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Poppins"/>
      <p:regular r:id="rId17"/>
      <p:bold r:id="rId18"/>
      <p:italic r:id="rId19"/>
      <p:boldItalic r:id="rId20"/>
    </p:embeddedFont>
    <p:embeddedFont>
      <p:font typeface="Lato"/>
      <p:regular r:id="rId21"/>
      <p:bold r:id="rId22"/>
      <p:italic r:id="rId23"/>
      <p:boldItalic r:id="rId24"/>
    </p:embeddedFont>
    <p:embeddedFont>
      <p:font typeface="Poppins SemiBold"/>
      <p:regular r:id="rId25"/>
      <p:bold r:id="rId26"/>
      <p:italic r:id="rId27"/>
      <p:boldItalic r:id="rId28"/>
    </p:embeddedFon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regular.fntdata"/><Relationship Id="rId16" Type="http://schemas.openxmlformats.org/officeDocument/2006/relationships/slide" Target="slides/slide11.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c14124af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Quick orientation before I go into the details. CommitFuzz has three layers. There’s the change-specific risk engine. It takes a commit from our dataset, reads the before and after versions of the changed function, and computes three metrics that combine into a single risk score. That score feeds directly into Layers 2 and 3 — the visualizations and the dashboard.</a:t>
            </a:r>
            <a:endParaRPr/>
          </a:p>
          <a:p>
            <a:pPr indent="0" lvl="0" marL="381000" marR="381000" rtl="0" algn="l">
              <a:lnSpc>
                <a:spcPct val="115000"/>
              </a:lnSpc>
              <a:spcBef>
                <a:spcPts val="1200"/>
              </a:spcBef>
              <a:spcAft>
                <a:spcPts val="1200"/>
              </a:spcAft>
              <a:buNone/>
            </a:pPr>
            <a:r>
              <a:rPr lang="en-US"/>
              <a:t>Everything I'm about to show you is implemented and running on our qBittorrent dataset.</a:t>
            </a:r>
            <a:endParaRPr/>
          </a:p>
        </p:txBody>
      </p:sp>
      <p:sp>
        <p:nvSpPr>
          <p:cNvPr id="110" name="Google Shape;110;g3cc14124af6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ce781c094_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US">
                <a:solidFill>
                  <a:schemeClr val="dk1"/>
                </a:solidFill>
              </a:rPr>
              <a:t>The first metric is Cyclomatic Complexity Delta. This is grounded in McCabe's 1976 paper and the NIST Structured Testing report — both shown here.</a:t>
            </a:r>
            <a:endParaRPr>
              <a:solidFill>
                <a:schemeClr val="dk1"/>
              </a:solidFill>
            </a:endParaRPr>
          </a:p>
          <a:p>
            <a:pPr indent="0" lvl="0" marL="381000" marR="381000" rtl="0" algn="l">
              <a:lnSpc>
                <a:spcPct val="115000"/>
              </a:lnSpc>
              <a:spcBef>
                <a:spcPts val="1200"/>
              </a:spcBef>
              <a:spcAft>
                <a:spcPts val="0"/>
              </a:spcAft>
              <a:buNone/>
            </a:pPr>
            <a:r>
              <a:rPr lang="en-US">
                <a:solidFill>
                  <a:schemeClr val="dk1"/>
                </a:solidFill>
              </a:rPr>
              <a:t>The formula is V(G) equals E minus N plus 2P — edges, nodes, connected components. In practice, tools like SonarQube simplify this to just counting decision points plus one, where a decision point is any node with two or more outgoing branches — if, for, while, case, &amp;&amp;, double-pipe.</a:t>
            </a:r>
            <a:endParaRPr>
              <a:solidFill>
                <a:schemeClr val="dk1"/>
              </a:solidFill>
            </a:endParaRPr>
          </a:p>
          <a:p>
            <a:pPr indent="0" lvl="0" marL="381000" marR="381000" rtl="0" algn="l">
              <a:lnSpc>
                <a:spcPct val="115000"/>
              </a:lnSpc>
              <a:spcBef>
                <a:spcPts val="1200"/>
              </a:spcBef>
              <a:spcAft>
                <a:spcPts val="0"/>
              </a:spcAft>
              <a:buNone/>
            </a:pPr>
            <a:r>
              <a:rPr lang="en-US">
                <a:solidFill>
                  <a:schemeClr val="dk1"/>
                </a:solidFill>
              </a:rPr>
              <a:t>We compute this for the before and after versions of the function and take the delta. That change in complexity is our first risk signal.</a:t>
            </a:r>
            <a:endParaRPr>
              <a:solidFill>
                <a:schemeClr val="dk1"/>
              </a:solidFill>
            </a:endParaRPr>
          </a:p>
          <a:p>
            <a:pPr indent="0" lvl="0" marL="0" marR="381000" rtl="0" algn="l">
              <a:lnSpc>
                <a:spcPct val="115000"/>
              </a:lnSpc>
              <a:spcBef>
                <a:spcPts val="1200"/>
              </a:spcBef>
              <a:spcAft>
                <a:spcPts val="1200"/>
              </a:spcAft>
              <a:buNone/>
            </a:pPr>
            <a:r>
              <a:t/>
            </a:r>
            <a:endParaRPr>
              <a:solidFill>
                <a:schemeClr val="dk1"/>
              </a:solidFill>
            </a:endParaRPr>
          </a:p>
        </p:txBody>
      </p:sp>
      <p:sp>
        <p:nvSpPr>
          <p:cNvPr id="120" name="Google Shape;120;g3dce781c094_1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ce781c094_1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US">
                <a:solidFill>
                  <a:schemeClr val="dk1"/>
                </a:solidFill>
              </a:rPr>
              <a:t>The second metric is Control Flow Alteration Score, from Nagappan and Ball 2005.</a:t>
            </a:r>
            <a:endParaRPr>
              <a:solidFill>
                <a:schemeClr val="dk1"/>
              </a:solidFill>
            </a:endParaRPr>
          </a:p>
          <a:p>
            <a:pPr indent="0" lvl="0" marL="381000" marR="381000" rtl="0" algn="l">
              <a:lnSpc>
                <a:spcPct val="115000"/>
              </a:lnSpc>
              <a:spcBef>
                <a:spcPts val="1200"/>
              </a:spcBef>
              <a:spcAft>
                <a:spcPts val="1200"/>
              </a:spcAft>
              <a:buNone/>
            </a:pPr>
            <a:r>
              <a:rPr lang="en-US">
                <a:solidFill>
                  <a:schemeClr val="dk1"/>
                </a:solidFill>
              </a:rPr>
              <a:t>We used the simplified version — the algorithm counts how many decision points were added or removed between the before and after code. The key idea here is that any touch to control flow equals risk, regardless of direction. CC Delta tells us the direction of complexity change. Flow Score tells us the magnitude of control flow disruption. Together they give a fuller picture</a:t>
            </a:r>
            <a:endParaRPr>
              <a:solidFill>
                <a:schemeClr val="dk1"/>
              </a:solidFill>
            </a:endParaRPr>
          </a:p>
        </p:txBody>
      </p:sp>
      <p:sp>
        <p:nvSpPr>
          <p:cNvPr id="135" name="Google Shape;135;g3dce781c094_1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f31a866e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US">
                <a:solidFill>
                  <a:schemeClr val="dk1"/>
                </a:solidFill>
              </a:rPr>
              <a:t>The second metric is Control Flow Alteration Score, from Nagappan and Ball 2005.</a:t>
            </a:r>
            <a:endParaRPr>
              <a:solidFill>
                <a:schemeClr val="dk1"/>
              </a:solidFill>
            </a:endParaRPr>
          </a:p>
          <a:p>
            <a:pPr indent="0" lvl="0" marL="381000" marR="381000" rtl="0" algn="l">
              <a:lnSpc>
                <a:spcPct val="115000"/>
              </a:lnSpc>
              <a:spcBef>
                <a:spcPts val="1200"/>
              </a:spcBef>
              <a:spcAft>
                <a:spcPts val="1200"/>
              </a:spcAft>
              <a:buNone/>
            </a:pPr>
            <a:r>
              <a:rPr lang="en-US">
                <a:solidFill>
                  <a:schemeClr val="dk1"/>
                </a:solidFill>
              </a:rPr>
              <a:t>We used the simplified version — the algorithm counts how many decision points were added or removed between the before and after code. The key idea here is that any touch to control flow equals risk, regardless of direction. CC Delta tells us the direction of complexity change. Flow Score tells us the magnitude of control flow disruption. Together they give a fuller picture</a:t>
            </a:r>
            <a:endParaRPr>
              <a:solidFill>
                <a:schemeClr val="dk1"/>
              </a:solidFill>
            </a:endParaRPr>
          </a:p>
        </p:txBody>
      </p:sp>
      <p:sp>
        <p:nvSpPr>
          <p:cNvPr id="144" name="Google Shape;144;g3df31a866e3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31dfc7c1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point-in-time static analysis tools</a:t>
            </a:r>
            <a:r>
              <a:rPr lang="en-US">
                <a:solidFill>
                  <a:schemeClr val="dk1"/>
                </a:solidFill>
              </a:rPr>
              <a:t>, such as </a:t>
            </a:r>
            <a:r>
              <a:rPr b="1" lang="en-US">
                <a:solidFill>
                  <a:schemeClr val="dk1"/>
                </a:solidFill>
              </a:rPr>
              <a:t>Clang-Tidy</a:t>
            </a:r>
            <a:r>
              <a:rPr lang="en-US">
                <a:solidFill>
                  <a:schemeClr val="dk1"/>
                </a:solidFill>
              </a:rPr>
              <a:t>, examine code at a single moment and detect general issues like code smells or style violations. These tools are useful, but they do not understand the </a:t>
            </a:r>
            <a:r>
              <a:rPr b="1" lang="en-US">
                <a:solidFill>
                  <a:schemeClr val="dk1"/>
                </a:solidFill>
              </a:rPr>
              <a:t>specific context of a code change</a:t>
            </a:r>
            <a:r>
              <a:rPr lang="en-US">
                <a:solidFill>
                  <a:schemeClr val="dk1"/>
                </a:solidFill>
              </a:rPr>
              <a:t>. Because of that, they can sometimes mark mature and safe code as risky, which leads to </a:t>
            </a:r>
            <a:r>
              <a:rPr b="1" lang="en-US">
                <a:solidFill>
                  <a:schemeClr val="dk1"/>
                </a:solidFill>
              </a:rPr>
              <a:t>false positives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there are </a:t>
            </a:r>
            <a:r>
              <a:rPr b="1" lang="en-US">
                <a:solidFill>
                  <a:schemeClr val="dk1"/>
                </a:solidFill>
              </a:rPr>
              <a:t>fuzzing visualization tools</a:t>
            </a:r>
            <a:r>
              <a:rPr lang="en-US">
                <a:solidFill>
                  <a:schemeClr val="dk1"/>
                </a:solidFill>
              </a:rPr>
              <a:t>, such as </a:t>
            </a:r>
            <a:r>
              <a:rPr b="1" lang="en-US">
                <a:solidFill>
                  <a:schemeClr val="dk1"/>
                </a:solidFill>
              </a:rPr>
              <a:t>VisFuzz</a:t>
            </a:r>
            <a:r>
              <a:rPr lang="en-US">
                <a:solidFill>
                  <a:schemeClr val="dk1"/>
                </a:solidFill>
              </a:rPr>
              <a:t> and </a:t>
            </a:r>
            <a:r>
              <a:rPr b="1" lang="en-US">
                <a:solidFill>
                  <a:schemeClr val="dk1"/>
                </a:solidFill>
              </a:rPr>
              <a:t>Cvfuzz</a:t>
            </a:r>
            <a:r>
              <a:rPr lang="en-US">
                <a:solidFill>
                  <a:schemeClr val="dk1"/>
                </a:solidFill>
              </a:rPr>
              <a:t>. VisFuzz helps developers observe fuzzing activity in real time through visual representations like call graphs and control-flow graphs. Cvfuzz focuses on detecting complexity-related vulnerabilities in OpenCL kernels using pathological inputs. VisFuzz and Cvfuzz are useful, but they mainly help during dynamic fuzzing. They do not focus on early, change-aware risk prediction before expensive testing starts.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contrast, </a:t>
            </a:r>
            <a:r>
              <a:rPr b="1" lang="en-US">
                <a:solidFill>
                  <a:schemeClr val="dk1"/>
                </a:solidFill>
              </a:rPr>
              <a:t>our approach, CommitFuzz, works earlier</a:t>
            </a:r>
            <a:r>
              <a:rPr lang="en-US">
                <a:solidFill>
                  <a:schemeClr val="dk1"/>
                </a:solidFill>
              </a:rPr>
              <a:t>. We use </a:t>
            </a:r>
            <a:r>
              <a:rPr b="1" lang="en-US">
                <a:solidFill>
                  <a:schemeClr val="dk1"/>
                </a:solidFill>
              </a:rPr>
              <a:t>Differential CFGs</a:t>
            </a:r>
            <a:r>
              <a:rPr lang="en-US">
                <a:solidFill>
                  <a:schemeClr val="dk1"/>
                </a:solidFill>
              </a:rPr>
              <a:t> and </a:t>
            </a:r>
            <a:r>
              <a:rPr b="1" lang="en-US">
                <a:solidFill>
                  <a:schemeClr val="dk1"/>
                </a:solidFill>
              </a:rPr>
              <a:t>Complexity Heatmaps</a:t>
            </a:r>
            <a:r>
              <a:rPr lang="en-US">
                <a:solidFill>
                  <a:schemeClr val="dk1"/>
                </a:solidFill>
              </a:rPr>
              <a:t> to analyze the risk of a code commit </a:t>
            </a:r>
            <a:r>
              <a:rPr b="1" lang="en-US">
                <a:solidFill>
                  <a:schemeClr val="dk1"/>
                </a:solidFill>
              </a:rPr>
              <a:t>before expensive dynamic testing begins</a:t>
            </a:r>
            <a:r>
              <a:rPr lang="en-US">
                <a:solidFill>
                  <a:schemeClr val="dk1"/>
                </a:solidFill>
              </a:rPr>
              <a:t>. So our contribution is not just visualization or general static checking — it is an early risk prediction method that is change-aware.”</a:t>
            </a:r>
            <a:endParaRPr>
              <a:solidFill>
                <a:schemeClr val="dk1"/>
              </a:solidFill>
            </a:endParaRPr>
          </a:p>
          <a:p>
            <a:pPr indent="0" lvl="0" marL="0" rtl="0" algn="l">
              <a:spcBef>
                <a:spcPts val="1200"/>
              </a:spcBef>
              <a:spcAft>
                <a:spcPts val="0"/>
              </a:spcAft>
              <a:buNone/>
            </a:pPr>
            <a:r>
              <a:t/>
            </a:r>
            <a:endParaRPr/>
          </a:p>
        </p:txBody>
      </p:sp>
      <p:sp>
        <p:nvSpPr>
          <p:cNvPr id="153" name="Google Shape;153;g3d31dfc7c17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cac5040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point-in-time static analysis tools</a:t>
            </a:r>
            <a:r>
              <a:rPr lang="en-US">
                <a:solidFill>
                  <a:schemeClr val="dk1"/>
                </a:solidFill>
              </a:rPr>
              <a:t>, such as </a:t>
            </a:r>
            <a:r>
              <a:rPr b="1" lang="en-US">
                <a:solidFill>
                  <a:schemeClr val="dk1"/>
                </a:solidFill>
              </a:rPr>
              <a:t>Clang-Tidy</a:t>
            </a:r>
            <a:r>
              <a:rPr lang="en-US">
                <a:solidFill>
                  <a:schemeClr val="dk1"/>
                </a:solidFill>
              </a:rPr>
              <a:t>, examine code at a single moment and detect general issues like code smells or style violations. These tools are useful, but they do not understand the </a:t>
            </a:r>
            <a:r>
              <a:rPr b="1" lang="en-US">
                <a:solidFill>
                  <a:schemeClr val="dk1"/>
                </a:solidFill>
              </a:rPr>
              <a:t>specific context of a code change</a:t>
            </a:r>
            <a:r>
              <a:rPr lang="en-US">
                <a:solidFill>
                  <a:schemeClr val="dk1"/>
                </a:solidFill>
              </a:rPr>
              <a:t>. Because of that, they can sometimes mark mature and safe code as risky, which leads to </a:t>
            </a:r>
            <a:r>
              <a:rPr b="1" lang="en-US">
                <a:solidFill>
                  <a:schemeClr val="dk1"/>
                </a:solidFill>
              </a:rPr>
              <a:t>false positives</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there are </a:t>
            </a:r>
            <a:r>
              <a:rPr b="1" lang="en-US">
                <a:solidFill>
                  <a:schemeClr val="dk1"/>
                </a:solidFill>
              </a:rPr>
              <a:t>fuzzing visualization tools</a:t>
            </a:r>
            <a:r>
              <a:rPr lang="en-US">
                <a:solidFill>
                  <a:schemeClr val="dk1"/>
                </a:solidFill>
              </a:rPr>
              <a:t>, such as </a:t>
            </a:r>
            <a:r>
              <a:rPr b="1" lang="en-US">
                <a:solidFill>
                  <a:schemeClr val="dk1"/>
                </a:solidFill>
              </a:rPr>
              <a:t>VisFuzz</a:t>
            </a:r>
            <a:r>
              <a:rPr lang="en-US">
                <a:solidFill>
                  <a:schemeClr val="dk1"/>
                </a:solidFill>
              </a:rPr>
              <a:t> and </a:t>
            </a:r>
            <a:r>
              <a:rPr b="1" lang="en-US">
                <a:solidFill>
                  <a:schemeClr val="dk1"/>
                </a:solidFill>
              </a:rPr>
              <a:t>Cvfuzz</a:t>
            </a:r>
            <a:r>
              <a:rPr lang="en-US">
                <a:solidFill>
                  <a:schemeClr val="dk1"/>
                </a:solidFill>
              </a:rPr>
              <a:t>. VisFuzz helps developers observe fuzzing activity in real time through visual representations like call graphs and control-flow graphs. Cvfuzz focuses on detecting complexity-related vulnerabilities in OpenCL kernels using pathological inputs. VisFuzz and Cvfuzz are useful, but they mainly help during dynamic fuzzing. They do not focus on early, change-aware risk prediction before expensive testing starts.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contrast, </a:t>
            </a:r>
            <a:r>
              <a:rPr b="1" lang="en-US">
                <a:solidFill>
                  <a:schemeClr val="dk1"/>
                </a:solidFill>
              </a:rPr>
              <a:t>our approach, CommitFuzz, works earlier</a:t>
            </a:r>
            <a:r>
              <a:rPr lang="en-US">
                <a:solidFill>
                  <a:schemeClr val="dk1"/>
                </a:solidFill>
              </a:rPr>
              <a:t>. We use </a:t>
            </a:r>
            <a:r>
              <a:rPr b="1" lang="en-US">
                <a:solidFill>
                  <a:schemeClr val="dk1"/>
                </a:solidFill>
              </a:rPr>
              <a:t>Differential CFGs</a:t>
            </a:r>
            <a:r>
              <a:rPr lang="en-US">
                <a:solidFill>
                  <a:schemeClr val="dk1"/>
                </a:solidFill>
              </a:rPr>
              <a:t> and </a:t>
            </a:r>
            <a:r>
              <a:rPr b="1" lang="en-US">
                <a:solidFill>
                  <a:schemeClr val="dk1"/>
                </a:solidFill>
              </a:rPr>
              <a:t>Complexity Heatmaps</a:t>
            </a:r>
            <a:r>
              <a:rPr lang="en-US">
                <a:solidFill>
                  <a:schemeClr val="dk1"/>
                </a:solidFill>
              </a:rPr>
              <a:t> to analyze the risk of a code commit </a:t>
            </a:r>
            <a:r>
              <a:rPr b="1" lang="en-US">
                <a:solidFill>
                  <a:schemeClr val="dk1"/>
                </a:solidFill>
              </a:rPr>
              <a:t>before expensive dynamic testing begins</a:t>
            </a:r>
            <a:r>
              <a:rPr lang="en-US">
                <a:solidFill>
                  <a:schemeClr val="dk1"/>
                </a:solidFill>
              </a:rPr>
              <a:t>. So our contribution is not just visualization or general static checking — it is an early risk prediction method that is change-aware.”</a:t>
            </a:r>
            <a:endParaRPr>
              <a:solidFill>
                <a:schemeClr val="dk1"/>
              </a:solidFill>
            </a:endParaRPr>
          </a:p>
          <a:p>
            <a:pPr indent="0" lvl="0" marL="0" rtl="0" algn="l">
              <a:spcBef>
                <a:spcPts val="1200"/>
              </a:spcBef>
              <a:spcAft>
                <a:spcPts val="0"/>
              </a:spcAft>
              <a:buNone/>
            </a:pPr>
            <a:r>
              <a:t/>
            </a:r>
            <a:endParaRPr/>
          </a:p>
        </p:txBody>
      </p:sp>
      <p:sp>
        <p:nvSpPr>
          <p:cNvPr id="162" name="Google Shape;162;g3dcac50407d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31dfc7c1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r>
            <a:r>
              <a:rPr b="1" lang="en-US">
                <a:solidFill>
                  <a:schemeClr val="dk1"/>
                </a:solidFill>
              </a:rPr>
              <a:t>This slide explains how our system uses a Control Flow Graph, or CFG, to represent program execution.</a:t>
            </a:r>
            <a:r>
              <a:rPr lang="en-US">
                <a:solidFill>
                  <a:schemeClr val="dk1"/>
                </a:solidFill>
              </a:rPr>
              <a:t> A CFG shows how execution can move from one code block to another.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First,</a:t>
            </a:r>
            <a:r>
              <a:rPr lang="en-US">
                <a:solidFill>
                  <a:schemeClr val="dk1"/>
                </a:solidFill>
              </a:rPr>
              <a:t> the source code is divided into </a:t>
            </a:r>
            <a:r>
              <a:rPr b="1" lang="en-US">
                <a:solidFill>
                  <a:schemeClr val="dk1"/>
                </a:solidFill>
              </a:rPr>
              <a:t>basic blocks</a:t>
            </a:r>
            <a:r>
              <a:rPr lang="en-US">
                <a:solidFill>
                  <a:schemeClr val="dk1"/>
                </a:solidFill>
              </a:rPr>
              <a:t>, usually at control-flow boundaries like </a:t>
            </a:r>
            <a:r>
              <a:rPr lang="en-US">
                <a:solidFill>
                  <a:srgbClr val="188038"/>
                </a:solidFill>
                <a:latin typeface="Roboto Mono"/>
                <a:ea typeface="Roboto Mono"/>
                <a:cs typeface="Roboto Mono"/>
                <a:sym typeface="Roboto Mono"/>
              </a:rPr>
              <a:t>if</a:t>
            </a:r>
            <a:r>
              <a:rPr lang="en-US">
                <a:solidFill>
                  <a:schemeClr val="dk1"/>
                </a:solidFill>
              </a:rPr>
              <a:t>, </a:t>
            </a:r>
            <a:r>
              <a:rPr lang="en-US">
                <a:solidFill>
                  <a:srgbClr val="188038"/>
                </a:solidFill>
                <a:latin typeface="Roboto Mono"/>
                <a:ea typeface="Roboto Mono"/>
                <a:cs typeface="Roboto Mono"/>
                <a:sym typeface="Roboto Mono"/>
              </a:rPr>
              <a:t>for</a:t>
            </a:r>
            <a:r>
              <a:rPr lang="en-US">
                <a:solidFill>
                  <a:schemeClr val="dk1"/>
                </a:solidFill>
              </a:rPr>
              <a:t>, </a:t>
            </a:r>
            <a:r>
              <a:rPr lang="en-US">
                <a:solidFill>
                  <a:srgbClr val="188038"/>
                </a:solidFill>
                <a:latin typeface="Roboto Mono"/>
                <a:ea typeface="Roboto Mono"/>
                <a:cs typeface="Roboto Mono"/>
                <a:sym typeface="Roboto Mono"/>
              </a:rPr>
              <a:t>while</a:t>
            </a:r>
            <a:r>
              <a:rPr lang="en-US">
                <a:solidFill>
                  <a:schemeClr val="dk1"/>
                </a:solidFill>
              </a:rPr>
              <a:t>, </a:t>
            </a:r>
            <a:r>
              <a:rPr lang="en-US">
                <a:solidFill>
                  <a:srgbClr val="188038"/>
                </a:solidFill>
                <a:latin typeface="Roboto Mono"/>
                <a:ea typeface="Roboto Mono"/>
                <a:cs typeface="Roboto Mono"/>
                <a:sym typeface="Roboto Mono"/>
              </a:rPr>
              <a:t>return</a:t>
            </a:r>
            <a:r>
              <a:rPr lang="en-US">
                <a:solidFill>
                  <a:schemeClr val="dk1"/>
                </a:solidFill>
              </a:rPr>
              <a:t>, </a:t>
            </a:r>
            <a:r>
              <a:rPr lang="en-US">
                <a:solidFill>
                  <a:srgbClr val="188038"/>
                </a:solidFill>
                <a:latin typeface="Roboto Mono"/>
                <a:ea typeface="Roboto Mono"/>
                <a:cs typeface="Roboto Mono"/>
                <a:sym typeface="Roboto Mono"/>
              </a:rPr>
              <a:t>break</a:t>
            </a:r>
            <a:r>
              <a:rPr lang="en-US">
                <a:solidFill>
                  <a:schemeClr val="dk1"/>
                </a:solidFill>
              </a:rPr>
              <a:t>, and </a:t>
            </a:r>
            <a:r>
              <a:rPr lang="en-US">
                <a:solidFill>
                  <a:srgbClr val="188038"/>
                </a:solidFill>
                <a:latin typeface="Roboto Mono"/>
                <a:ea typeface="Roboto Mono"/>
                <a:cs typeface="Roboto Mono"/>
                <a:sym typeface="Roboto Mono"/>
              </a:rPr>
              <a:t>case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Second,</a:t>
            </a:r>
            <a:r>
              <a:rPr lang="en-US">
                <a:solidFill>
                  <a:schemeClr val="dk1"/>
                </a:solidFill>
              </a:rPr>
              <a:t> each block is identified by its type, such as conditional, loop, return, or normal sequential block.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Third,</a:t>
            </a:r>
            <a:r>
              <a:rPr lang="en-US">
                <a:solidFill>
                  <a:schemeClr val="dk1"/>
                </a:solidFill>
              </a:rPr>
              <a:t> we connect these blocks in a </a:t>
            </a:r>
            <a:r>
              <a:rPr b="1" lang="en-US">
                <a:solidFill>
                  <a:schemeClr val="dk1"/>
                </a:solidFill>
              </a:rPr>
              <a:t>directed graph</a:t>
            </a:r>
            <a:r>
              <a:rPr lang="en-US">
                <a:solidFill>
                  <a:schemeClr val="dk1"/>
                </a:solidFill>
              </a:rPr>
              <a:t>. It is directed because execution moves in a specific order from one block to the next.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Then,</a:t>
            </a:r>
            <a:r>
              <a:rPr lang="en-US">
                <a:solidFill>
                  <a:schemeClr val="dk1"/>
                </a:solidFill>
              </a:rPr>
              <a:t> the edges are labeled based on the type of control flow. For example, an </a:t>
            </a:r>
            <a:r>
              <a:rPr lang="en-US">
                <a:solidFill>
                  <a:srgbClr val="188038"/>
                </a:solidFill>
                <a:latin typeface="Roboto Mono"/>
                <a:ea typeface="Roboto Mono"/>
                <a:cs typeface="Roboto Mono"/>
                <a:sym typeface="Roboto Mono"/>
              </a:rPr>
              <a:t>if</a:t>
            </a:r>
            <a:r>
              <a:rPr lang="en-US">
                <a:solidFill>
                  <a:schemeClr val="dk1"/>
                </a:solidFill>
              </a:rPr>
              <a:t> statement may create </a:t>
            </a:r>
            <a:r>
              <a:rPr lang="en-US">
                <a:solidFill>
                  <a:srgbClr val="188038"/>
                </a:solidFill>
                <a:latin typeface="Roboto Mono"/>
                <a:ea typeface="Roboto Mono"/>
                <a:cs typeface="Roboto Mono"/>
                <a:sym typeface="Roboto Mono"/>
              </a:rPr>
              <a:t>true</a:t>
            </a:r>
            <a:r>
              <a:rPr lang="en-US">
                <a:solidFill>
                  <a:schemeClr val="dk1"/>
                </a:solidFill>
              </a:rPr>
              <a:t> and </a:t>
            </a:r>
            <a:r>
              <a:rPr lang="en-US">
                <a:solidFill>
                  <a:srgbClr val="188038"/>
                </a:solidFill>
                <a:latin typeface="Roboto Mono"/>
                <a:ea typeface="Roboto Mono"/>
                <a:cs typeface="Roboto Mono"/>
                <a:sym typeface="Roboto Mono"/>
              </a:rPr>
              <a:t>false</a:t>
            </a:r>
            <a:r>
              <a:rPr lang="en-US">
                <a:solidFill>
                  <a:schemeClr val="dk1"/>
                </a:solidFill>
              </a:rPr>
              <a:t> branches, loops may have </a:t>
            </a:r>
            <a:r>
              <a:rPr lang="en-US">
                <a:solidFill>
                  <a:srgbClr val="188038"/>
                </a:solidFill>
                <a:latin typeface="Roboto Mono"/>
                <a:ea typeface="Roboto Mono"/>
                <a:cs typeface="Roboto Mono"/>
                <a:sym typeface="Roboto Mono"/>
              </a:rPr>
              <a:t>loop_body</a:t>
            </a:r>
            <a:r>
              <a:rPr lang="en-US">
                <a:solidFill>
                  <a:schemeClr val="dk1"/>
                </a:solidFill>
              </a:rPr>
              <a:t> and </a:t>
            </a:r>
            <a:r>
              <a:rPr lang="en-US">
                <a:solidFill>
                  <a:srgbClr val="188038"/>
                </a:solidFill>
                <a:latin typeface="Roboto Mono"/>
                <a:ea typeface="Roboto Mono"/>
                <a:cs typeface="Roboto Mono"/>
                <a:sym typeface="Roboto Mono"/>
              </a:rPr>
              <a:t>loop_exit</a:t>
            </a:r>
            <a:r>
              <a:rPr lang="en-US">
                <a:solidFill>
                  <a:schemeClr val="dk1"/>
                </a:solidFill>
              </a:rPr>
              <a:t>, and normal execution uses a sequential edge.</a:t>
            </a:r>
            <a:endParaRPr>
              <a:solidFill>
                <a:schemeClr val="dk1"/>
              </a:solidFill>
            </a:endParaRPr>
          </a:p>
          <a:p>
            <a:pPr indent="0" lvl="0" marL="0" rtl="0" algn="l">
              <a:lnSpc>
                <a:spcPct val="115000"/>
              </a:lnSpc>
              <a:spcBef>
                <a:spcPts val="1200"/>
              </a:spcBef>
              <a:spcAft>
                <a:spcPts val="1200"/>
              </a:spcAft>
              <a:buNone/>
            </a:pPr>
            <a:r>
              <a:rPr b="1" lang="en-US">
                <a:solidFill>
                  <a:schemeClr val="dk1"/>
                </a:solidFill>
              </a:rPr>
              <a:t>Finally,</a:t>
            </a:r>
            <a:r>
              <a:rPr lang="en-US">
                <a:solidFill>
                  <a:schemeClr val="dk1"/>
                </a:solidFill>
              </a:rPr>
              <a:t> when we compare CFGs before and after changes, we can detect which blocks remain unchanged and which are modified, deleted, or newly added. This helps visualize how the program structure evolves.”</a:t>
            </a:r>
            <a:endParaRPr>
              <a:solidFill>
                <a:schemeClr val="dk1"/>
              </a:solidFill>
            </a:endParaRPr>
          </a:p>
        </p:txBody>
      </p:sp>
      <p:sp>
        <p:nvSpPr>
          <p:cNvPr id="171" name="Google Shape;171;g3d31dfc7c1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f31a866e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r>
            <a:r>
              <a:rPr b="1" lang="en-US">
                <a:solidFill>
                  <a:schemeClr val="dk1"/>
                </a:solidFill>
              </a:rPr>
              <a:t>This slide explains how our system uses a Control Flow Graph, or CFG, to represent program execution.</a:t>
            </a:r>
            <a:r>
              <a:rPr lang="en-US">
                <a:solidFill>
                  <a:schemeClr val="dk1"/>
                </a:solidFill>
              </a:rPr>
              <a:t> A CFG shows how execution can move from one code block to another.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First,</a:t>
            </a:r>
            <a:r>
              <a:rPr lang="en-US">
                <a:solidFill>
                  <a:schemeClr val="dk1"/>
                </a:solidFill>
              </a:rPr>
              <a:t> the source code is divided into </a:t>
            </a:r>
            <a:r>
              <a:rPr b="1" lang="en-US">
                <a:solidFill>
                  <a:schemeClr val="dk1"/>
                </a:solidFill>
              </a:rPr>
              <a:t>basic blocks</a:t>
            </a:r>
            <a:r>
              <a:rPr lang="en-US">
                <a:solidFill>
                  <a:schemeClr val="dk1"/>
                </a:solidFill>
              </a:rPr>
              <a:t>, usually at control-flow boundaries like </a:t>
            </a:r>
            <a:r>
              <a:rPr lang="en-US">
                <a:solidFill>
                  <a:srgbClr val="188038"/>
                </a:solidFill>
                <a:latin typeface="Roboto Mono"/>
                <a:ea typeface="Roboto Mono"/>
                <a:cs typeface="Roboto Mono"/>
                <a:sym typeface="Roboto Mono"/>
              </a:rPr>
              <a:t>if</a:t>
            </a:r>
            <a:r>
              <a:rPr lang="en-US">
                <a:solidFill>
                  <a:schemeClr val="dk1"/>
                </a:solidFill>
              </a:rPr>
              <a:t>, </a:t>
            </a:r>
            <a:r>
              <a:rPr lang="en-US">
                <a:solidFill>
                  <a:srgbClr val="188038"/>
                </a:solidFill>
                <a:latin typeface="Roboto Mono"/>
                <a:ea typeface="Roboto Mono"/>
                <a:cs typeface="Roboto Mono"/>
                <a:sym typeface="Roboto Mono"/>
              </a:rPr>
              <a:t>for</a:t>
            </a:r>
            <a:r>
              <a:rPr lang="en-US">
                <a:solidFill>
                  <a:schemeClr val="dk1"/>
                </a:solidFill>
              </a:rPr>
              <a:t>, </a:t>
            </a:r>
            <a:r>
              <a:rPr lang="en-US">
                <a:solidFill>
                  <a:srgbClr val="188038"/>
                </a:solidFill>
                <a:latin typeface="Roboto Mono"/>
                <a:ea typeface="Roboto Mono"/>
                <a:cs typeface="Roboto Mono"/>
                <a:sym typeface="Roboto Mono"/>
              </a:rPr>
              <a:t>while</a:t>
            </a:r>
            <a:r>
              <a:rPr lang="en-US">
                <a:solidFill>
                  <a:schemeClr val="dk1"/>
                </a:solidFill>
              </a:rPr>
              <a:t>, </a:t>
            </a:r>
            <a:r>
              <a:rPr lang="en-US">
                <a:solidFill>
                  <a:srgbClr val="188038"/>
                </a:solidFill>
                <a:latin typeface="Roboto Mono"/>
                <a:ea typeface="Roboto Mono"/>
                <a:cs typeface="Roboto Mono"/>
                <a:sym typeface="Roboto Mono"/>
              </a:rPr>
              <a:t>return</a:t>
            </a:r>
            <a:r>
              <a:rPr lang="en-US">
                <a:solidFill>
                  <a:schemeClr val="dk1"/>
                </a:solidFill>
              </a:rPr>
              <a:t>, </a:t>
            </a:r>
            <a:r>
              <a:rPr lang="en-US">
                <a:solidFill>
                  <a:srgbClr val="188038"/>
                </a:solidFill>
                <a:latin typeface="Roboto Mono"/>
                <a:ea typeface="Roboto Mono"/>
                <a:cs typeface="Roboto Mono"/>
                <a:sym typeface="Roboto Mono"/>
              </a:rPr>
              <a:t>break</a:t>
            </a:r>
            <a:r>
              <a:rPr lang="en-US">
                <a:solidFill>
                  <a:schemeClr val="dk1"/>
                </a:solidFill>
              </a:rPr>
              <a:t>, and </a:t>
            </a:r>
            <a:r>
              <a:rPr lang="en-US">
                <a:solidFill>
                  <a:srgbClr val="188038"/>
                </a:solidFill>
                <a:latin typeface="Roboto Mono"/>
                <a:ea typeface="Roboto Mono"/>
                <a:cs typeface="Roboto Mono"/>
                <a:sym typeface="Roboto Mono"/>
              </a:rPr>
              <a:t>case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Second,</a:t>
            </a:r>
            <a:r>
              <a:rPr lang="en-US">
                <a:solidFill>
                  <a:schemeClr val="dk1"/>
                </a:solidFill>
              </a:rPr>
              <a:t> each block is identified by its type, such as conditional, loop, return, or normal sequential block.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Third,</a:t>
            </a:r>
            <a:r>
              <a:rPr lang="en-US">
                <a:solidFill>
                  <a:schemeClr val="dk1"/>
                </a:solidFill>
              </a:rPr>
              <a:t> we connect these blocks in a </a:t>
            </a:r>
            <a:r>
              <a:rPr b="1" lang="en-US">
                <a:solidFill>
                  <a:schemeClr val="dk1"/>
                </a:solidFill>
              </a:rPr>
              <a:t>directed graph</a:t>
            </a:r>
            <a:r>
              <a:rPr lang="en-US">
                <a:solidFill>
                  <a:schemeClr val="dk1"/>
                </a:solidFill>
              </a:rPr>
              <a:t>. It is directed because execution moves in a specific order from one block to the next.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Then,</a:t>
            </a:r>
            <a:r>
              <a:rPr lang="en-US">
                <a:solidFill>
                  <a:schemeClr val="dk1"/>
                </a:solidFill>
              </a:rPr>
              <a:t> the edges are labeled based on the type of control flow. For example, an </a:t>
            </a:r>
            <a:r>
              <a:rPr lang="en-US">
                <a:solidFill>
                  <a:srgbClr val="188038"/>
                </a:solidFill>
                <a:latin typeface="Roboto Mono"/>
                <a:ea typeface="Roboto Mono"/>
                <a:cs typeface="Roboto Mono"/>
                <a:sym typeface="Roboto Mono"/>
              </a:rPr>
              <a:t>if</a:t>
            </a:r>
            <a:r>
              <a:rPr lang="en-US">
                <a:solidFill>
                  <a:schemeClr val="dk1"/>
                </a:solidFill>
              </a:rPr>
              <a:t> statement may create </a:t>
            </a:r>
            <a:r>
              <a:rPr lang="en-US">
                <a:solidFill>
                  <a:srgbClr val="188038"/>
                </a:solidFill>
                <a:latin typeface="Roboto Mono"/>
                <a:ea typeface="Roboto Mono"/>
                <a:cs typeface="Roboto Mono"/>
                <a:sym typeface="Roboto Mono"/>
              </a:rPr>
              <a:t>true</a:t>
            </a:r>
            <a:r>
              <a:rPr lang="en-US">
                <a:solidFill>
                  <a:schemeClr val="dk1"/>
                </a:solidFill>
              </a:rPr>
              <a:t> and </a:t>
            </a:r>
            <a:r>
              <a:rPr lang="en-US">
                <a:solidFill>
                  <a:srgbClr val="188038"/>
                </a:solidFill>
                <a:latin typeface="Roboto Mono"/>
                <a:ea typeface="Roboto Mono"/>
                <a:cs typeface="Roboto Mono"/>
                <a:sym typeface="Roboto Mono"/>
              </a:rPr>
              <a:t>false</a:t>
            </a:r>
            <a:r>
              <a:rPr lang="en-US">
                <a:solidFill>
                  <a:schemeClr val="dk1"/>
                </a:solidFill>
              </a:rPr>
              <a:t> branches, loops may have </a:t>
            </a:r>
            <a:r>
              <a:rPr lang="en-US">
                <a:solidFill>
                  <a:srgbClr val="188038"/>
                </a:solidFill>
                <a:latin typeface="Roboto Mono"/>
                <a:ea typeface="Roboto Mono"/>
                <a:cs typeface="Roboto Mono"/>
                <a:sym typeface="Roboto Mono"/>
              </a:rPr>
              <a:t>loop_body</a:t>
            </a:r>
            <a:r>
              <a:rPr lang="en-US">
                <a:solidFill>
                  <a:schemeClr val="dk1"/>
                </a:solidFill>
              </a:rPr>
              <a:t> and </a:t>
            </a:r>
            <a:r>
              <a:rPr lang="en-US">
                <a:solidFill>
                  <a:srgbClr val="188038"/>
                </a:solidFill>
                <a:latin typeface="Roboto Mono"/>
                <a:ea typeface="Roboto Mono"/>
                <a:cs typeface="Roboto Mono"/>
                <a:sym typeface="Roboto Mono"/>
              </a:rPr>
              <a:t>loop_exit</a:t>
            </a:r>
            <a:r>
              <a:rPr lang="en-US">
                <a:solidFill>
                  <a:schemeClr val="dk1"/>
                </a:solidFill>
              </a:rPr>
              <a:t>, and normal execution uses a sequential edge.</a:t>
            </a:r>
            <a:endParaRPr>
              <a:solidFill>
                <a:schemeClr val="dk1"/>
              </a:solidFill>
            </a:endParaRPr>
          </a:p>
          <a:p>
            <a:pPr indent="0" lvl="0" marL="0" rtl="0" algn="l">
              <a:lnSpc>
                <a:spcPct val="115000"/>
              </a:lnSpc>
              <a:spcBef>
                <a:spcPts val="1200"/>
              </a:spcBef>
              <a:spcAft>
                <a:spcPts val="1200"/>
              </a:spcAft>
              <a:buNone/>
            </a:pPr>
            <a:r>
              <a:rPr b="1" lang="en-US">
                <a:solidFill>
                  <a:schemeClr val="dk1"/>
                </a:solidFill>
              </a:rPr>
              <a:t>Finally,</a:t>
            </a:r>
            <a:r>
              <a:rPr lang="en-US">
                <a:solidFill>
                  <a:schemeClr val="dk1"/>
                </a:solidFill>
              </a:rPr>
              <a:t> when we compare CFGs before and after changes, we can detect which blocks remain unchanged and which are modified, deleted, or newly added. This helps visualize how the program structure evolves.”</a:t>
            </a:r>
            <a:endParaRPr>
              <a:solidFill>
                <a:schemeClr val="dk1"/>
              </a:solidFill>
            </a:endParaRPr>
          </a:p>
        </p:txBody>
      </p:sp>
      <p:sp>
        <p:nvSpPr>
          <p:cNvPr id="182" name="Google Shape;182;g3df31a866e3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f31a866e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a:r>
            <a:r>
              <a:rPr b="1" lang="en-US">
                <a:solidFill>
                  <a:schemeClr val="dk1"/>
                </a:solidFill>
              </a:rPr>
              <a:t>This slide explains how our system uses a Control Flow Graph, or CFG, to represent program execution.</a:t>
            </a:r>
            <a:r>
              <a:rPr lang="en-US">
                <a:solidFill>
                  <a:schemeClr val="dk1"/>
                </a:solidFill>
              </a:rPr>
              <a:t> A CFG shows how execution can move from one code block to another.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First,</a:t>
            </a:r>
            <a:r>
              <a:rPr lang="en-US">
                <a:solidFill>
                  <a:schemeClr val="dk1"/>
                </a:solidFill>
              </a:rPr>
              <a:t> the source code is divided into </a:t>
            </a:r>
            <a:r>
              <a:rPr b="1" lang="en-US">
                <a:solidFill>
                  <a:schemeClr val="dk1"/>
                </a:solidFill>
              </a:rPr>
              <a:t>basic blocks</a:t>
            </a:r>
            <a:r>
              <a:rPr lang="en-US">
                <a:solidFill>
                  <a:schemeClr val="dk1"/>
                </a:solidFill>
              </a:rPr>
              <a:t>, usually at control-flow boundaries like </a:t>
            </a:r>
            <a:r>
              <a:rPr lang="en-US">
                <a:solidFill>
                  <a:srgbClr val="188038"/>
                </a:solidFill>
                <a:latin typeface="Roboto Mono"/>
                <a:ea typeface="Roboto Mono"/>
                <a:cs typeface="Roboto Mono"/>
                <a:sym typeface="Roboto Mono"/>
              </a:rPr>
              <a:t>if</a:t>
            </a:r>
            <a:r>
              <a:rPr lang="en-US">
                <a:solidFill>
                  <a:schemeClr val="dk1"/>
                </a:solidFill>
              </a:rPr>
              <a:t>, </a:t>
            </a:r>
            <a:r>
              <a:rPr lang="en-US">
                <a:solidFill>
                  <a:srgbClr val="188038"/>
                </a:solidFill>
                <a:latin typeface="Roboto Mono"/>
                <a:ea typeface="Roboto Mono"/>
                <a:cs typeface="Roboto Mono"/>
                <a:sym typeface="Roboto Mono"/>
              </a:rPr>
              <a:t>for</a:t>
            </a:r>
            <a:r>
              <a:rPr lang="en-US">
                <a:solidFill>
                  <a:schemeClr val="dk1"/>
                </a:solidFill>
              </a:rPr>
              <a:t>, </a:t>
            </a:r>
            <a:r>
              <a:rPr lang="en-US">
                <a:solidFill>
                  <a:srgbClr val="188038"/>
                </a:solidFill>
                <a:latin typeface="Roboto Mono"/>
                <a:ea typeface="Roboto Mono"/>
                <a:cs typeface="Roboto Mono"/>
                <a:sym typeface="Roboto Mono"/>
              </a:rPr>
              <a:t>while</a:t>
            </a:r>
            <a:r>
              <a:rPr lang="en-US">
                <a:solidFill>
                  <a:schemeClr val="dk1"/>
                </a:solidFill>
              </a:rPr>
              <a:t>, </a:t>
            </a:r>
            <a:r>
              <a:rPr lang="en-US">
                <a:solidFill>
                  <a:srgbClr val="188038"/>
                </a:solidFill>
                <a:latin typeface="Roboto Mono"/>
                <a:ea typeface="Roboto Mono"/>
                <a:cs typeface="Roboto Mono"/>
                <a:sym typeface="Roboto Mono"/>
              </a:rPr>
              <a:t>return</a:t>
            </a:r>
            <a:r>
              <a:rPr lang="en-US">
                <a:solidFill>
                  <a:schemeClr val="dk1"/>
                </a:solidFill>
              </a:rPr>
              <a:t>, </a:t>
            </a:r>
            <a:r>
              <a:rPr lang="en-US">
                <a:solidFill>
                  <a:srgbClr val="188038"/>
                </a:solidFill>
                <a:latin typeface="Roboto Mono"/>
                <a:ea typeface="Roboto Mono"/>
                <a:cs typeface="Roboto Mono"/>
                <a:sym typeface="Roboto Mono"/>
              </a:rPr>
              <a:t>break</a:t>
            </a:r>
            <a:r>
              <a:rPr lang="en-US">
                <a:solidFill>
                  <a:schemeClr val="dk1"/>
                </a:solidFill>
              </a:rPr>
              <a:t>, and </a:t>
            </a:r>
            <a:r>
              <a:rPr lang="en-US">
                <a:solidFill>
                  <a:srgbClr val="188038"/>
                </a:solidFill>
                <a:latin typeface="Roboto Mono"/>
                <a:ea typeface="Roboto Mono"/>
                <a:cs typeface="Roboto Mono"/>
                <a:sym typeface="Roboto Mono"/>
              </a:rPr>
              <a:t>case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Second,</a:t>
            </a:r>
            <a:r>
              <a:rPr lang="en-US">
                <a:solidFill>
                  <a:schemeClr val="dk1"/>
                </a:solidFill>
              </a:rPr>
              <a:t> each block is identified by its type, such as conditional, loop, return, or normal sequential block.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Third,</a:t>
            </a:r>
            <a:r>
              <a:rPr lang="en-US">
                <a:solidFill>
                  <a:schemeClr val="dk1"/>
                </a:solidFill>
              </a:rPr>
              <a:t> we connect these blocks in a </a:t>
            </a:r>
            <a:r>
              <a:rPr b="1" lang="en-US">
                <a:solidFill>
                  <a:schemeClr val="dk1"/>
                </a:solidFill>
              </a:rPr>
              <a:t>directed graph</a:t>
            </a:r>
            <a:r>
              <a:rPr lang="en-US">
                <a:solidFill>
                  <a:schemeClr val="dk1"/>
                </a:solidFill>
              </a:rPr>
              <a:t>. It is directed because execution moves in a specific order from one block to the next.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Then,</a:t>
            </a:r>
            <a:r>
              <a:rPr lang="en-US">
                <a:solidFill>
                  <a:schemeClr val="dk1"/>
                </a:solidFill>
              </a:rPr>
              <a:t> the edges are labeled based on the type of control flow. For example, an </a:t>
            </a:r>
            <a:r>
              <a:rPr lang="en-US">
                <a:solidFill>
                  <a:srgbClr val="188038"/>
                </a:solidFill>
                <a:latin typeface="Roboto Mono"/>
                <a:ea typeface="Roboto Mono"/>
                <a:cs typeface="Roboto Mono"/>
                <a:sym typeface="Roboto Mono"/>
              </a:rPr>
              <a:t>if</a:t>
            </a:r>
            <a:r>
              <a:rPr lang="en-US">
                <a:solidFill>
                  <a:schemeClr val="dk1"/>
                </a:solidFill>
              </a:rPr>
              <a:t> statement may create </a:t>
            </a:r>
            <a:r>
              <a:rPr lang="en-US">
                <a:solidFill>
                  <a:srgbClr val="188038"/>
                </a:solidFill>
                <a:latin typeface="Roboto Mono"/>
                <a:ea typeface="Roboto Mono"/>
                <a:cs typeface="Roboto Mono"/>
                <a:sym typeface="Roboto Mono"/>
              </a:rPr>
              <a:t>true</a:t>
            </a:r>
            <a:r>
              <a:rPr lang="en-US">
                <a:solidFill>
                  <a:schemeClr val="dk1"/>
                </a:solidFill>
              </a:rPr>
              <a:t> and </a:t>
            </a:r>
            <a:r>
              <a:rPr lang="en-US">
                <a:solidFill>
                  <a:srgbClr val="188038"/>
                </a:solidFill>
                <a:latin typeface="Roboto Mono"/>
                <a:ea typeface="Roboto Mono"/>
                <a:cs typeface="Roboto Mono"/>
                <a:sym typeface="Roboto Mono"/>
              </a:rPr>
              <a:t>false</a:t>
            </a:r>
            <a:r>
              <a:rPr lang="en-US">
                <a:solidFill>
                  <a:schemeClr val="dk1"/>
                </a:solidFill>
              </a:rPr>
              <a:t> branches, loops may have </a:t>
            </a:r>
            <a:r>
              <a:rPr lang="en-US">
                <a:solidFill>
                  <a:srgbClr val="188038"/>
                </a:solidFill>
                <a:latin typeface="Roboto Mono"/>
                <a:ea typeface="Roboto Mono"/>
                <a:cs typeface="Roboto Mono"/>
                <a:sym typeface="Roboto Mono"/>
              </a:rPr>
              <a:t>loop_body</a:t>
            </a:r>
            <a:r>
              <a:rPr lang="en-US">
                <a:solidFill>
                  <a:schemeClr val="dk1"/>
                </a:solidFill>
              </a:rPr>
              <a:t> and </a:t>
            </a:r>
            <a:r>
              <a:rPr lang="en-US">
                <a:solidFill>
                  <a:srgbClr val="188038"/>
                </a:solidFill>
                <a:latin typeface="Roboto Mono"/>
                <a:ea typeface="Roboto Mono"/>
                <a:cs typeface="Roboto Mono"/>
                <a:sym typeface="Roboto Mono"/>
              </a:rPr>
              <a:t>loop_exit</a:t>
            </a:r>
            <a:r>
              <a:rPr lang="en-US">
                <a:solidFill>
                  <a:schemeClr val="dk1"/>
                </a:solidFill>
              </a:rPr>
              <a:t>, and normal execution uses a sequential edge.</a:t>
            </a:r>
            <a:endParaRPr>
              <a:solidFill>
                <a:schemeClr val="dk1"/>
              </a:solidFill>
            </a:endParaRPr>
          </a:p>
          <a:p>
            <a:pPr indent="0" lvl="0" marL="0" rtl="0" algn="l">
              <a:lnSpc>
                <a:spcPct val="115000"/>
              </a:lnSpc>
              <a:spcBef>
                <a:spcPts val="1200"/>
              </a:spcBef>
              <a:spcAft>
                <a:spcPts val="1200"/>
              </a:spcAft>
              <a:buNone/>
            </a:pPr>
            <a:r>
              <a:rPr b="1" lang="en-US">
                <a:solidFill>
                  <a:schemeClr val="dk1"/>
                </a:solidFill>
              </a:rPr>
              <a:t>Finally,</a:t>
            </a:r>
            <a:r>
              <a:rPr lang="en-US">
                <a:solidFill>
                  <a:schemeClr val="dk1"/>
                </a:solidFill>
              </a:rPr>
              <a:t> when we compare CFGs before and after changes, we can detect which blocks remain unchanged and which are modified, deleted, or newly added. This helps visualize how the program structure evolves.”</a:t>
            </a:r>
            <a:endParaRPr>
              <a:solidFill>
                <a:schemeClr val="dk1"/>
              </a:solidFill>
            </a:endParaRPr>
          </a:p>
        </p:txBody>
      </p:sp>
      <p:sp>
        <p:nvSpPr>
          <p:cNvPr id="191" name="Google Shape;191;g3df31a866e3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80" name="Shape 80"/>
        <p:cNvGrpSpPr/>
        <p:nvPr/>
      </p:nvGrpSpPr>
      <p:grpSpPr>
        <a:xfrm>
          <a:off x="0" y="0"/>
          <a:ext cx="0" cy="0"/>
          <a:chOff x="0" y="0"/>
          <a:chExt cx="0" cy="0"/>
        </a:xfrm>
      </p:grpSpPr>
      <p:sp>
        <p:nvSpPr>
          <p:cNvPr id="81" name="Google Shape;81;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p:spTree>
      <p:nvGrpSpPr>
        <p:cNvPr id="84" name="Shape 84"/>
        <p:cNvGrpSpPr/>
        <p:nvPr/>
      </p:nvGrpSpPr>
      <p:grpSpPr>
        <a:xfrm>
          <a:off x="0" y="0"/>
          <a:ext cx="0" cy="0"/>
          <a:chOff x="0" y="0"/>
          <a:chExt cx="0" cy="0"/>
        </a:xfrm>
      </p:grpSpPr>
      <p:sp>
        <p:nvSpPr>
          <p:cNvPr id="85" name="Google Shape;85;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 3">
    <p:spTree>
      <p:nvGrpSpPr>
        <p:cNvPr id="88" name="Shape 88"/>
        <p:cNvGrpSpPr/>
        <p:nvPr/>
      </p:nvGrpSpPr>
      <p:grpSpPr>
        <a:xfrm>
          <a:off x="0" y="0"/>
          <a:ext cx="0" cy="0"/>
          <a:chOff x="0" y="0"/>
          <a:chExt cx="0" cy="0"/>
        </a:xfrm>
      </p:grpSpPr>
      <p:sp>
        <p:nvSpPr>
          <p:cNvPr id="89" name="Google Shape;89;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4">
  <p:cSld name="Blank 4">
    <p:spTree>
      <p:nvGrpSpPr>
        <p:cNvPr id="92" name="Shape 92"/>
        <p:cNvGrpSpPr/>
        <p:nvPr/>
      </p:nvGrpSpPr>
      <p:grpSpPr>
        <a:xfrm>
          <a:off x="0" y="0"/>
          <a:ext cx="0" cy="0"/>
          <a:chOff x="0" y="0"/>
          <a:chExt cx="0" cy="0"/>
        </a:xfrm>
      </p:grpSpPr>
      <p:sp>
        <p:nvSpPr>
          <p:cNvPr id="93" name="Google Shape;93;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https://github.com/EmonRezaBD/LitReviewRAG" TargetMode="External"/><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image.png" id="100" name="Google Shape;100;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7"/>
          <p:cNvSpPr txBox="1"/>
          <p:nvPr/>
        </p:nvSpPr>
        <p:spPr>
          <a:xfrm>
            <a:off x="1051000" y="2068850"/>
            <a:ext cx="10088100" cy="369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2400">
                <a:solidFill>
                  <a:srgbClr val="003366"/>
                </a:solidFill>
                <a:latin typeface="Poppins"/>
                <a:ea typeface="Poppins"/>
                <a:cs typeface="Poppins"/>
                <a:sym typeface="Poppins"/>
              </a:rPr>
              <a:t>LitReviewRAG: Automated Literature Review Synthesis</a:t>
            </a:r>
            <a:endParaRPr sz="2400"/>
          </a:p>
        </p:txBody>
      </p:sp>
      <p:sp>
        <p:nvSpPr>
          <p:cNvPr id="102" name="Google Shape;102;p17"/>
          <p:cNvSpPr/>
          <p:nvPr/>
        </p:nvSpPr>
        <p:spPr>
          <a:xfrm>
            <a:off x="5909015" y="3025080"/>
            <a:ext cx="952500" cy="573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7"/>
          <p:cNvSpPr txBox="1"/>
          <p:nvPr/>
        </p:nvSpPr>
        <p:spPr>
          <a:xfrm>
            <a:off x="2085975" y="3367975"/>
            <a:ext cx="8606400" cy="3078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Clr>
                <a:schemeClr val="dk1"/>
              </a:buClr>
              <a:buFont typeface="Arial"/>
              <a:buNone/>
            </a:pPr>
            <a:r>
              <a:rPr lang="en-US" sz="2000">
                <a:solidFill>
                  <a:srgbClr val="666666"/>
                </a:solidFill>
                <a:latin typeface="Lato"/>
                <a:ea typeface="Lato"/>
                <a:cs typeface="Lato"/>
                <a:sym typeface="Lato"/>
              </a:rPr>
              <a:t>Md Rokonuzzaman Reza</a:t>
            </a:r>
            <a:endParaRPr sz="2000">
              <a:solidFill>
                <a:schemeClr val="dk1"/>
              </a:solidFill>
            </a:endParaRPr>
          </a:p>
        </p:txBody>
      </p:sp>
      <p:sp>
        <p:nvSpPr>
          <p:cNvPr id="104" name="Google Shape;104;p17"/>
          <p:cNvSpPr txBox="1"/>
          <p:nvPr/>
        </p:nvSpPr>
        <p:spPr>
          <a:xfrm>
            <a:off x="5563025" y="5585325"/>
            <a:ext cx="6151800" cy="65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1800">
                <a:latin typeface="Lato"/>
                <a:ea typeface="Lato"/>
                <a:cs typeface="Lato"/>
                <a:sym typeface="Lato"/>
              </a:rPr>
              <a:t>Code:</a:t>
            </a:r>
            <a:r>
              <a:rPr b="1" lang="en-US" sz="1800">
                <a:latin typeface="Lato"/>
                <a:ea typeface="Lato"/>
                <a:cs typeface="Lato"/>
                <a:sym typeface="Lato"/>
              </a:rPr>
              <a:t> </a:t>
            </a:r>
            <a:r>
              <a:rPr b="1" lang="en-US" sz="1800" u="sng">
                <a:solidFill>
                  <a:schemeClr val="hlink"/>
                </a:solidFill>
                <a:latin typeface="Lato"/>
                <a:ea typeface="Lato"/>
                <a:cs typeface="Lato"/>
                <a:sym typeface="Lato"/>
                <a:hlinkClick r:id="rId4"/>
              </a:rPr>
              <a:t>https://github.com/EmonRezaBD/LitReviewRAG</a:t>
            </a:r>
            <a:endParaRPr b="1" sz="1800">
              <a:latin typeface="Lato"/>
              <a:ea typeface="Lato"/>
              <a:cs typeface="Lato"/>
              <a:sym typeface="Lato"/>
            </a:endParaRPr>
          </a:p>
          <a:p>
            <a:pPr indent="0" lvl="0" marL="0" marR="0" rtl="0" algn="ctr">
              <a:lnSpc>
                <a:spcPct val="160000"/>
              </a:lnSpc>
              <a:spcBef>
                <a:spcPts val="0"/>
              </a:spcBef>
              <a:spcAft>
                <a:spcPts val="0"/>
              </a:spcAft>
              <a:buNone/>
            </a:pPr>
            <a:r>
              <a:t/>
            </a:r>
            <a:endParaRPr b="1">
              <a:latin typeface="Lato"/>
              <a:ea typeface="Lato"/>
              <a:cs typeface="Lato"/>
              <a:sym typeface="Lato"/>
            </a:endParaRPr>
          </a:p>
        </p:txBody>
      </p:sp>
      <p:sp>
        <p:nvSpPr>
          <p:cNvPr id="105" name="Google Shape;105;p17"/>
          <p:cNvSpPr txBox="1"/>
          <p:nvPr/>
        </p:nvSpPr>
        <p:spPr>
          <a:xfrm>
            <a:off x="543325" y="5454900"/>
            <a:ext cx="60288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Lato"/>
                <a:ea typeface="Lato"/>
                <a:cs typeface="Lato"/>
                <a:sym typeface="Lato"/>
              </a:rPr>
              <a:t>CSC 7644: Applied LLM Development</a:t>
            </a:r>
            <a:endParaRPr sz="1800">
              <a:solidFill>
                <a:schemeClr val="dk1"/>
              </a:solidFill>
              <a:latin typeface="Lato"/>
              <a:ea typeface="Lato"/>
              <a:cs typeface="Lato"/>
              <a:sym typeface="Lato"/>
            </a:endParaRPr>
          </a:p>
        </p:txBody>
      </p:sp>
      <p:pic>
        <p:nvPicPr>
          <p:cNvPr id="106" name="Google Shape;106;p17"/>
          <p:cNvPicPr preferRelativeResize="0"/>
          <p:nvPr/>
        </p:nvPicPr>
        <p:blipFill rotWithShape="1">
          <a:blip r:embed="rId5">
            <a:alphaModFix/>
          </a:blip>
          <a:srcRect b="7461" l="0" r="0" t="7461"/>
          <a:stretch/>
        </p:blipFill>
        <p:spPr>
          <a:xfrm>
            <a:off x="11164400" y="183075"/>
            <a:ext cx="780100" cy="260550"/>
          </a:xfrm>
          <a:prstGeom prst="rect">
            <a:avLst/>
          </a:prstGeom>
          <a:noFill/>
          <a:ln>
            <a:noFill/>
          </a:ln>
        </p:spPr>
      </p:pic>
      <p:sp>
        <p:nvSpPr>
          <p:cNvPr id="107" name="Google Shape;107;p17"/>
          <p:cNvSpPr txBox="1"/>
          <p:nvPr/>
        </p:nvSpPr>
        <p:spPr>
          <a:xfrm>
            <a:off x="384300" y="290325"/>
            <a:ext cx="22974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Lato"/>
                <a:ea typeface="Lato"/>
                <a:cs typeface="Lato"/>
                <a:sym typeface="Lato"/>
              </a:rPr>
              <a:t>May 08, 2026</a:t>
            </a:r>
            <a:endParaRPr sz="1700">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18"/>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The Problem &amp; Motivation</a:t>
            </a:r>
            <a:endParaRPr sz="3200"/>
          </a:p>
        </p:txBody>
      </p:sp>
      <p:sp>
        <p:nvSpPr>
          <p:cNvPr id="113" name="Google Shape;113;p18"/>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4" name="Google Shape;114;p18"/>
          <p:cNvPicPr preferRelativeResize="0"/>
          <p:nvPr/>
        </p:nvPicPr>
        <p:blipFill rotWithShape="1">
          <a:blip r:embed="rId3">
            <a:alphaModFix/>
          </a:blip>
          <a:srcRect b="7461" l="0" r="0" t="7461"/>
          <a:stretch/>
        </p:blipFill>
        <p:spPr>
          <a:xfrm>
            <a:off x="11164400" y="183075"/>
            <a:ext cx="780100" cy="260550"/>
          </a:xfrm>
          <a:prstGeom prst="rect">
            <a:avLst/>
          </a:prstGeom>
          <a:noFill/>
          <a:ln>
            <a:noFill/>
          </a:ln>
        </p:spPr>
      </p:pic>
      <p:grpSp>
        <p:nvGrpSpPr>
          <p:cNvPr id="115" name="Google Shape;115;p18"/>
          <p:cNvGrpSpPr/>
          <p:nvPr/>
        </p:nvGrpSpPr>
        <p:grpSpPr>
          <a:xfrm>
            <a:off x="761929" y="1331201"/>
            <a:ext cx="10857928" cy="4550664"/>
            <a:chOff x="5905500" y="1333500"/>
            <a:chExt cx="5715000" cy="3048000"/>
          </a:xfrm>
        </p:grpSpPr>
        <p:sp>
          <p:nvSpPr>
            <p:cNvPr id="116" name="Google Shape;116;p18"/>
            <p:cNvSpPr/>
            <p:nvPr/>
          </p:nvSpPr>
          <p:spPr>
            <a:xfrm>
              <a:off x="5905500" y="1333500"/>
              <a:ext cx="5715000" cy="3048000"/>
            </a:xfrm>
            <a:prstGeom prst="roundRect">
              <a:avLst>
                <a:gd fmla="val 375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8"/>
            <p:cNvSpPr txBox="1"/>
            <p:nvPr/>
          </p:nvSpPr>
          <p:spPr>
            <a:xfrm>
              <a:off x="6170788" y="1589829"/>
              <a:ext cx="5211600" cy="25536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rPr b="1" lang="en-US" sz="2400">
                  <a:solidFill>
                    <a:srgbClr val="003366"/>
                  </a:solidFill>
                  <a:latin typeface="Lato"/>
                  <a:ea typeface="Lato"/>
                  <a:cs typeface="Lato"/>
                  <a:sym typeface="Lato"/>
                </a:rPr>
                <a:t>Literature reviews take 15–20 hours of manual extraction</a:t>
              </a:r>
              <a:endParaRPr b="1" sz="2400">
                <a:solidFill>
                  <a:srgbClr val="003366"/>
                </a:solidFill>
                <a:latin typeface="Lato"/>
                <a:ea typeface="Lato"/>
                <a:cs typeface="Lato"/>
                <a:sym typeface="Lato"/>
              </a:endParaRPr>
            </a:p>
            <a:p>
              <a:pPr indent="-381170" lvl="0" marL="457540" rtl="0" algn="just">
                <a:spcBef>
                  <a:spcPts val="1126"/>
                </a:spcBef>
                <a:spcAft>
                  <a:spcPts val="0"/>
                </a:spcAft>
                <a:buClr>
                  <a:srgbClr val="1E293B"/>
                </a:buClr>
                <a:buSzPts val="2400"/>
                <a:buFont typeface="Lato"/>
                <a:buChar char="●"/>
              </a:pPr>
              <a:r>
                <a:rPr lang="en-US" sz="2400">
                  <a:solidFill>
                    <a:srgbClr val="1E293B"/>
                  </a:solidFill>
                  <a:latin typeface="Lato"/>
                  <a:ea typeface="Lato"/>
                  <a:cs typeface="Lato"/>
                  <a:sym typeface="Lato"/>
                </a:rPr>
                <a:t>Existing tools fall short in different aspects</a:t>
              </a:r>
              <a:endParaRPr sz="2400">
                <a:solidFill>
                  <a:srgbClr val="1E293B"/>
                </a:solidFill>
                <a:latin typeface="Lato"/>
                <a:ea typeface="Lato"/>
                <a:cs typeface="Lato"/>
                <a:sym typeface="Lato"/>
              </a:endParaRPr>
            </a:p>
            <a:p>
              <a:pPr indent="-381170" lvl="0" marL="457540" rtl="0" algn="just">
                <a:spcBef>
                  <a:spcPts val="0"/>
                </a:spcBef>
                <a:spcAft>
                  <a:spcPts val="0"/>
                </a:spcAft>
                <a:buClr>
                  <a:srgbClr val="1E293B"/>
                </a:buClr>
                <a:buSzPts val="2400"/>
                <a:buFont typeface="Lato"/>
                <a:buChar char="●"/>
              </a:pPr>
              <a:r>
                <a:rPr lang="en-US" sz="2400">
                  <a:solidFill>
                    <a:srgbClr val="1E293B"/>
                  </a:solidFill>
                  <a:latin typeface="Lato"/>
                  <a:ea typeface="Lato"/>
                  <a:cs typeface="Lato"/>
                  <a:sym typeface="Lato"/>
                </a:rPr>
                <a:t>Zotero → citations only </a:t>
              </a:r>
              <a:endParaRPr sz="2400">
                <a:solidFill>
                  <a:srgbClr val="1E293B"/>
                </a:solidFill>
                <a:latin typeface="Lato"/>
                <a:ea typeface="Lato"/>
                <a:cs typeface="Lato"/>
                <a:sym typeface="Lato"/>
              </a:endParaRPr>
            </a:p>
            <a:p>
              <a:pPr indent="-381170" lvl="0" marL="457540" rtl="0" algn="just">
                <a:spcBef>
                  <a:spcPts val="0"/>
                </a:spcBef>
                <a:spcAft>
                  <a:spcPts val="0"/>
                </a:spcAft>
                <a:buClr>
                  <a:srgbClr val="1E293B"/>
                </a:buClr>
                <a:buSzPts val="2400"/>
                <a:buFont typeface="Lato"/>
                <a:buChar char="●"/>
              </a:pPr>
              <a:r>
                <a:rPr lang="en-US" sz="2400">
                  <a:solidFill>
                    <a:srgbClr val="1E293B"/>
                  </a:solidFill>
                  <a:latin typeface="Lato"/>
                  <a:ea typeface="Lato"/>
                  <a:cs typeface="Lato"/>
                  <a:sym typeface="Lato"/>
                </a:rPr>
                <a:t>NotebookLM → conversational Q&amp;A, no structured table </a:t>
              </a:r>
              <a:endParaRPr sz="2400">
                <a:solidFill>
                  <a:srgbClr val="1E293B"/>
                </a:solidFill>
                <a:latin typeface="Lato"/>
                <a:ea typeface="Lato"/>
                <a:cs typeface="Lato"/>
                <a:sym typeface="Lato"/>
              </a:endParaRPr>
            </a:p>
            <a:p>
              <a:pPr indent="-381170" lvl="0" marL="457540" rtl="0" algn="just">
                <a:spcBef>
                  <a:spcPts val="0"/>
                </a:spcBef>
                <a:spcAft>
                  <a:spcPts val="0"/>
                </a:spcAft>
                <a:buClr>
                  <a:srgbClr val="1E293B"/>
                </a:buClr>
                <a:buSzPts val="2400"/>
                <a:buFont typeface="Lato"/>
                <a:buChar char="●"/>
              </a:pPr>
              <a:r>
                <a:rPr lang="en-US" sz="2400">
                  <a:solidFill>
                    <a:srgbClr val="1E293B"/>
                  </a:solidFill>
                  <a:latin typeface="Lato"/>
                  <a:ea typeface="Lato"/>
                  <a:cs typeface="Lato"/>
                  <a:sym typeface="Lato"/>
                </a:rPr>
                <a:t>Elicit → no field-level extraction, no contradiction detection, no Excel export</a:t>
              </a:r>
              <a:endParaRPr sz="2400">
                <a:solidFill>
                  <a:srgbClr val="1E293B"/>
                </a:solidFill>
                <a:latin typeface="Lato"/>
                <a:ea typeface="Lato"/>
                <a:cs typeface="Lato"/>
                <a:sym typeface="Lato"/>
              </a:endParaRPr>
            </a:p>
            <a:p>
              <a:pPr indent="-381170" lvl="0" marL="457540" rtl="0" algn="just">
                <a:spcBef>
                  <a:spcPts val="0"/>
                </a:spcBef>
                <a:spcAft>
                  <a:spcPts val="0"/>
                </a:spcAft>
                <a:buClr>
                  <a:srgbClr val="1E293B"/>
                </a:buClr>
                <a:buSzPts val="2400"/>
                <a:buFont typeface="Lato"/>
                <a:buChar char="●"/>
              </a:pPr>
              <a:r>
                <a:rPr lang="en-US" sz="2400">
                  <a:solidFill>
                    <a:srgbClr val="1E293B"/>
                  </a:solidFill>
                  <a:latin typeface="Lato"/>
                  <a:ea typeface="Lato"/>
                  <a:cs typeface="Lato"/>
                  <a:sym typeface="Lato"/>
                </a:rPr>
                <a:t>LitReviewRag addressed all these gaps</a:t>
              </a:r>
              <a:endParaRPr sz="2400">
                <a:solidFill>
                  <a:srgbClr val="1E293B"/>
                </a:solidFill>
                <a:latin typeface="Lato"/>
                <a:ea typeface="Lato"/>
                <a:cs typeface="Lato"/>
                <a:sym typeface="La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pic>
        <p:nvPicPr>
          <p:cNvPr descr="image.png" id="122" name="Google Shape;122;p19"/>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3" name="Google Shape;123;p19"/>
          <p:cNvGrpSpPr/>
          <p:nvPr/>
        </p:nvGrpSpPr>
        <p:grpSpPr>
          <a:xfrm>
            <a:off x="571500" y="571500"/>
            <a:ext cx="10477500" cy="600000"/>
            <a:chOff x="571500" y="571500"/>
            <a:chExt cx="10477500" cy="600000"/>
          </a:xfrm>
        </p:grpSpPr>
        <p:sp>
          <p:nvSpPr>
            <p:cNvPr id="124" name="Google Shape;124;p19"/>
            <p:cNvSpPr/>
            <p:nvPr/>
          </p:nvSpPr>
          <p:spPr>
            <a:xfrm>
              <a:off x="571500" y="571500"/>
              <a:ext cx="76200" cy="600000"/>
            </a:xfrm>
            <a:prstGeom prst="rect">
              <a:avLst/>
            </a:prstGeom>
            <a:solidFill>
              <a:srgbClr val="F56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9"/>
            <p:cNvSpPr txBox="1"/>
            <p:nvPr/>
          </p:nvSpPr>
          <p:spPr>
            <a:xfrm>
              <a:off x="762000" y="571500"/>
              <a:ext cx="10287000" cy="60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200">
                  <a:solidFill>
                    <a:srgbClr val="003366"/>
                  </a:solidFill>
                  <a:latin typeface="Poppins SemiBold"/>
                  <a:ea typeface="Poppins SemiBold"/>
                  <a:cs typeface="Poppins SemiBold"/>
                  <a:sym typeface="Poppins SemiBold"/>
                </a:rPr>
                <a:t>Project Objectives</a:t>
              </a:r>
              <a:endParaRPr b="0" sz="3200">
                <a:solidFill>
                  <a:srgbClr val="003366"/>
                </a:solidFill>
                <a:latin typeface="Poppins SemiBold"/>
                <a:ea typeface="Poppins SemiBold"/>
                <a:cs typeface="Poppins SemiBold"/>
                <a:sym typeface="Poppins SemiBold"/>
              </a:endParaRPr>
            </a:p>
          </p:txBody>
        </p:sp>
      </p:grpSp>
      <p:grpSp>
        <p:nvGrpSpPr>
          <p:cNvPr id="126" name="Google Shape;126;p19"/>
          <p:cNvGrpSpPr/>
          <p:nvPr/>
        </p:nvGrpSpPr>
        <p:grpSpPr>
          <a:xfrm>
            <a:off x="571500" y="1501613"/>
            <a:ext cx="11049000" cy="2667000"/>
            <a:chOff x="571500" y="1333500"/>
            <a:chExt cx="11049000" cy="2667000"/>
          </a:xfrm>
        </p:grpSpPr>
        <p:sp>
          <p:nvSpPr>
            <p:cNvPr id="127" name="Google Shape;127;p19"/>
            <p:cNvSpPr/>
            <p:nvPr/>
          </p:nvSpPr>
          <p:spPr>
            <a:xfrm>
              <a:off x="571500" y="1333500"/>
              <a:ext cx="11049000" cy="2667000"/>
            </a:xfrm>
            <a:prstGeom prst="roundRect">
              <a:avLst>
                <a:gd fmla="val 3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9"/>
            <p:cNvSpPr txBox="1"/>
            <p:nvPr/>
          </p:nvSpPr>
          <p:spPr>
            <a:xfrm>
              <a:off x="762000" y="1524000"/>
              <a:ext cx="10668000" cy="2286000"/>
            </a:xfrm>
            <a:prstGeom prst="rect">
              <a:avLst/>
            </a:prstGeom>
            <a:noFill/>
            <a:ln>
              <a:noFill/>
            </a:ln>
          </p:spPr>
          <p:txBody>
            <a:bodyPr anchorCtr="0" anchor="t" bIns="0" lIns="0" spcFirstLastPara="1" rIns="0" wrap="square" tIns="0">
              <a:noAutofit/>
            </a:bodyPr>
            <a:lstStyle/>
            <a:p>
              <a:pPr indent="-381000" lvl="0" marL="457200" rtl="0" algn="just">
                <a:spcBef>
                  <a:spcPts val="0"/>
                </a:spcBef>
                <a:spcAft>
                  <a:spcPts val="0"/>
                </a:spcAft>
                <a:buClr>
                  <a:srgbClr val="1E293B"/>
                </a:buClr>
                <a:buSzPts val="2400"/>
                <a:buFont typeface="Lato"/>
                <a:buChar char="●"/>
              </a:pPr>
              <a:r>
                <a:rPr lang="en-US" sz="2400">
                  <a:solidFill>
                    <a:srgbClr val="003366"/>
                  </a:solidFill>
                  <a:latin typeface="Lato"/>
                  <a:ea typeface="Lato"/>
                  <a:cs typeface="Lato"/>
                  <a:sym typeface="Lato"/>
                </a:rPr>
                <a:t>Extract 8 structured fields per paper automatically</a:t>
              </a:r>
              <a:endParaRPr sz="2400">
                <a:solidFill>
                  <a:srgbClr val="003366"/>
                </a:solidFill>
                <a:latin typeface="Lato"/>
                <a:ea typeface="Lato"/>
                <a:cs typeface="Lato"/>
                <a:sym typeface="Lato"/>
              </a:endParaRPr>
            </a:p>
            <a:p>
              <a:pPr indent="-381000" lvl="0" marL="457200" rtl="0" algn="just">
                <a:spcBef>
                  <a:spcPts val="600"/>
                </a:spcBef>
                <a:spcAft>
                  <a:spcPts val="0"/>
                </a:spcAft>
                <a:buClr>
                  <a:srgbClr val="1E293B"/>
                </a:buClr>
                <a:buSzPts val="2400"/>
                <a:buFont typeface="Lato"/>
                <a:buChar char="●"/>
              </a:pPr>
              <a:r>
                <a:rPr lang="en-US" sz="2400">
                  <a:solidFill>
                    <a:srgbClr val="003366"/>
                  </a:solidFill>
                  <a:latin typeface="Lato"/>
                  <a:ea typeface="Lato"/>
                  <a:cs typeface="Lato"/>
                  <a:sym typeface="Lato"/>
                </a:rPr>
                <a:t>Detect factual contradictions across papers</a:t>
              </a:r>
              <a:endParaRPr sz="2400">
                <a:solidFill>
                  <a:srgbClr val="003366"/>
                </a:solidFill>
                <a:latin typeface="Lato"/>
                <a:ea typeface="Lato"/>
                <a:cs typeface="Lato"/>
                <a:sym typeface="Lato"/>
              </a:endParaRPr>
            </a:p>
            <a:p>
              <a:pPr indent="-381000" lvl="0" marL="457200" rtl="0" algn="just">
                <a:spcBef>
                  <a:spcPts val="600"/>
                </a:spcBef>
                <a:spcAft>
                  <a:spcPts val="0"/>
                </a:spcAft>
                <a:buClr>
                  <a:srgbClr val="1E293B"/>
                </a:buClr>
                <a:buSzPts val="2400"/>
                <a:buFont typeface="Lato"/>
                <a:buChar char="●"/>
              </a:pPr>
              <a:r>
                <a:rPr lang="en-US" sz="2400">
                  <a:solidFill>
                    <a:srgbClr val="003366"/>
                  </a:solidFill>
                  <a:latin typeface="Lato"/>
                  <a:ea typeface="Lato"/>
                  <a:cs typeface="Lato"/>
                  <a:sym typeface="Lato"/>
                </a:rPr>
                <a:t>Export results to a styled Excel deliverable</a:t>
              </a:r>
              <a:endParaRPr sz="2400">
                <a:solidFill>
                  <a:srgbClr val="003366"/>
                </a:solidFill>
                <a:latin typeface="Lato"/>
                <a:ea typeface="Lato"/>
                <a:cs typeface="Lato"/>
                <a:sym typeface="Lato"/>
              </a:endParaRPr>
            </a:p>
            <a:p>
              <a:pPr indent="-381000" lvl="0" marL="457200" rtl="0" algn="just">
                <a:spcBef>
                  <a:spcPts val="600"/>
                </a:spcBef>
                <a:spcAft>
                  <a:spcPts val="600"/>
                </a:spcAft>
                <a:buClr>
                  <a:srgbClr val="1E293B"/>
                </a:buClr>
                <a:buSzPts val="2400"/>
                <a:buFont typeface="Lato"/>
                <a:buChar char="●"/>
              </a:pPr>
              <a:r>
                <a:rPr lang="en-US" sz="2400">
                  <a:solidFill>
                    <a:srgbClr val="003366"/>
                  </a:solidFill>
                  <a:latin typeface="Lato"/>
                  <a:ea typeface="Lato"/>
                  <a:cs typeface="Lato"/>
                  <a:sym typeface="Lato"/>
                </a:rPr>
                <a:t>Achieve verifiable, grounded extraction (no hallucinations)</a:t>
              </a:r>
              <a:endParaRPr sz="2400">
                <a:solidFill>
                  <a:srgbClr val="1E293B"/>
                </a:solidFill>
                <a:latin typeface="Lato"/>
                <a:ea typeface="Lato"/>
                <a:cs typeface="Lato"/>
                <a:sym typeface="Lato"/>
              </a:endParaRPr>
            </a:p>
          </p:txBody>
        </p:sp>
      </p:grpSp>
      <p:pic>
        <p:nvPicPr>
          <p:cNvPr id="129" name="Google Shape;129;p19"/>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grpSp>
        <p:nvGrpSpPr>
          <p:cNvPr id="130" name="Google Shape;130;p19"/>
          <p:cNvGrpSpPr/>
          <p:nvPr/>
        </p:nvGrpSpPr>
        <p:grpSpPr>
          <a:xfrm>
            <a:off x="630125" y="4498725"/>
            <a:ext cx="11049000" cy="571500"/>
            <a:chOff x="571500" y="6096000"/>
            <a:chExt cx="11049000" cy="571500"/>
          </a:xfrm>
        </p:grpSpPr>
        <p:sp>
          <p:nvSpPr>
            <p:cNvPr id="131" name="Google Shape;131;p19"/>
            <p:cNvSpPr/>
            <p:nvPr/>
          </p:nvSpPr>
          <p:spPr>
            <a:xfrm>
              <a:off x="571500" y="6096000"/>
              <a:ext cx="11049000" cy="571500"/>
            </a:xfrm>
            <a:prstGeom prst="roundRect">
              <a:avLst>
                <a:gd fmla="val 833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9"/>
            <p:cNvSpPr txBox="1"/>
            <p:nvPr/>
          </p:nvSpPr>
          <p:spPr>
            <a:xfrm>
              <a:off x="714375" y="6143625"/>
              <a:ext cx="10763400" cy="4764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n-US" sz="2400">
                  <a:solidFill>
                    <a:srgbClr val="475569"/>
                  </a:solidFill>
                  <a:latin typeface="Lato"/>
                  <a:ea typeface="Lato"/>
                  <a:cs typeface="Lato"/>
                  <a:sym typeface="Lato"/>
                </a:rPr>
                <a:t>Reduce 15–20 hours of manual work → ~10 minutes of compute time</a:t>
              </a:r>
              <a:endParaRPr sz="2400">
                <a:solidFill>
                  <a:srgbClr val="475569"/>
                </a:solidFill>
                <a:latin typeface="Lato"/>
                <a:ea typeface="Lato"/>
                <a:cs typeface="Lato"/>
                <a:sym typeface="La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0"/>
          <p:cNvSpPr txBox="1"/>
          <p:nvPr/>
        </p:nvSpPr>
        <p:spPr>
          <a:xfrm>
            <a:off x="762000" y="571500"/>
            <a:ext cx="10287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en-US" sz="3200">
                <a:solidFill>
                  <a:srgbClr val="003366"/>
                </a:solidFill>
                <a:latin typeface="Poppins SemiBold"/>
                <a:ea typeface="Poppins SemiBold"/>
                <a:cs typeface="Poppins SemiBold"/>
                <a:sym typeface="Poppins SemiBold"/>
              </a:rPr>
              <a:t>High-Level Technical Approach</a:t>
            </a:r>
            <a:endParaRPr b="0" sz="3200">
              <a:solidFill>
                <a:srgbClr val="003366"/>
              </a:solidFill>
              <a:latin typeface="Poppins SemiBold"/>
              <a:ea typeface="Poppins SemiBold"/>
              <a:cs typeface="Poppins SemiBold"/>
              <a:sym typeface="Poppins SemiBold"/>
            </a:endParaRPr>
          </a:p>
        </p:txBody>
      </p:sp>
      <p:sp>
        <p:nvSpPr>
          <p:cNvPr id="138" name="Google Shape;138;p20"/>
          <p:cNvSpPr/>
          <p:nvPr/>
        </p:nvSpPr>
        <p:spPr>
          <a:xfrm>
            <a:off x="571500" y="571500"/>
            <a:ext cx="76200" cy="600000"/>
          </a:xfrm>
          <a:prstGeom prst="rect">
            <a:avLst/>
          </a:prstGeom>
          <a:solidFill>
            <a:srgbClr val="F56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39" name="Google Shape;139;p20"/>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pic>
        <p:nvPicPr>
          <p:cNvPr id="140" name="Google Shape;140;p20" title="Screen Shot 2026-05-07 at 10.22.19 AM.png"/>
          <p:cNvPicPr preferRelativeResize="0"/>
          <p:nvPr/>
        </p:nvPicPr>
        <p:blipFill>
          <a:blip r:embed="rId5">
            <a:alphaModFix/>
          </a:blip>
          <a:stretch>
            <a:fillRect/>
          </a:stretch>
        </p:blipFill>
        <p:spPr>
          <a:xfrm>
            <a:off x="2338450" y="1506875"/>
            <a:ext cx="7283358" cy="3970349"/>
          </a:xfrm>
          <a:prstGeom prst="rect">
            <a:avLst/>
          </a:prstGeom>
          <a:noFill/>
          <a:ln>
            <a:noFill/>
          </a:ln>
        </p:spPr>
      </p:pic>
      <p:sp>
        <p:nvSpPr>
          <p:cNvPr id="141" name="Google Shape;141;p20"/>
          <p:cNvSpPr txBox="1"/>
          <p:nvPr/>
        </p:nvSpPr>
        <p:spPr>
          <a:xfrm>
            <a:off x="2256025" y="5661500"/>
            <a:ext cx="7365900" cy="40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2400">
                <a:solidFill>
                  <a:schemeClr val="dk1"/>
                </a:solidFill>
                <a:latin typeface="Lato"/>
                <a:ea typeface="Lato"/>
                <a:cs typeface="Lato"/>
                <a:sym typeface="Lato"/>
              </a:rPr>
              <a:t>Fig1: End-to-end pipeline architecture, from PDF ingestion through Excel export</a:t>
            </a:r>
            <a:endParaRPr sz="2400">
              <a:solidFill>
                <a:schemeClr val="dk1"/>
              </a:solidFill>
              <a:latin typeface="Lato"/>
              <a:ea typeface="Lato"/>
              <a:cs typeface="Lato"/>
              <a:sym typeface="Lato"/>
            </a:endParaRPr>
          </a:p>
          <a:p>
            <a:pPr indent="0" lvl="0" marL="0" rtl="0" algn="ctr">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21"/>
          <p:cNvSpPr txBox="1"/>
          <p:nvPr/>
        </p:nvSpPr>
        <p:spPr>
          <a:xfrm>
            <a:off x="762000" y="571500"/>
            <a:ext cx="10287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en-US" sz="3200">
                <a:solidFill>
                  <a:srgbClr val="003366"/>
                </a:solidFill>
                <a:latin typeface="Poppins SemiBold"/>
                <a:ea typeface="Poppins SemiBold"/>
                <a:cs typeface="Poppins SemiBold"/>
                <a:sym typeface="Poppins SemiBold"/>
              </a:rPr>
              <a:t>High-Level Technical Approach</a:t>
            </a:r>
            <a:endParaRPr b="0" sz="3200">
              <a:solidFill>
                <a:srgbClr val="003366"/>
              </a:solidFill>
              <a:latin typeface="Poppins SemiBold"/>
              <a:ea typeface="Poppins SemiBold"/>
              <a:cs typeface="Poppins SemiBold"/>
              <a:sym typeface="Poppins SemiBold"/>
            </a:endParaRPr>
          </a:p>
        </p:txBody>
      </p:sp>
      <p:sp>
        <p:nvSpPr>
          <p:cNvPr id="147" name="Google Shape;147;p21"/>
          <p:cNvSpPr/>
          <p:nvPr/>
        </p:nvSpPr>
        <p:spPr>
          <a:xfrm>
            <a:off x="571500" y="571500"/>
            <a:ext cx="76200" cy="600000"/>
          </a:xfrm>
          <a:prstGeom prst="rect">
            <a:avLst/>
          </a:prstGeom>
          <a:solidFill>
            <a:srgbClr val="F56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8" name="Google Shape;148;p21"/>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pic>
        <p:nvPicPr>
          <p:cNvPr id="149" name="Google Shape;149;p21" title="Screen Shot 2026-05-07 at 10.26.05 AM.png"/>
          <p:cNvPicPr preferRelativeResize="0"/>
          <p:nvPr/>
        </p:nvPicPr>
        <p:blipFill>
          <a:blip r:embed="rId5">
            <a:alphaModFix/>
          </a:blip>
          <a:stretch>
            <a:fillRect/>
          </a:stretch>
        </p:blipFill>
        <p:spPr>
          <a:xfrm>
            <a:off x="1295400" y="1323875"/>
            <a:ext cx="9753600" cy="3609975"/>
          </a:xfrm>
          <a:prstGeom prst="rect">
            <a:avLst/>
          </a:prstGeom>
          <a:noFill/>
          <a:ln>
            <a:noFill/>
          </a:ln>
        </p:spPr>
      </p:pic>
      <p:sp>
        <p:nvSpPr>
          <p:cNvPr id="150" name="Google Shape;150;p21"/>
          <p:cNvSpPr txBox="1"/>
          <p:nvPr/>
        </p:nvSpPr>
        <p:spPr>
          <a:xfrm>
            <a:off x="1549675" y="5115675"/>
            <a:ext cx="9343200" cy="78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2400">
                <a:solidFill>
                  <a:schemeClr val="dk1"/>
                </a:solidFill>
                <a:latin typeface="Lato"/>
                <a:ea typeface="Lato"/>
                <a:cs typeface="Lato"/>
                <a:sym typeface="Lato"/>
              </a:rPr>
              <a:t>Table 1: Technology stacks across the pipeline</a:t>
            </a:r>
            <a:endParaRPr sz="2400">
              <a:solidFill>
                <a:schemeClr val="dk1"/>
              </a:solidFill>
              <a:latin typeface="Lato"/>
              <a:ea typeface="Lato"/>
              <a:cs typeface="Lato"/>
              <a:sym typeface="Lato"/>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pic>
        <p:nvPicPr>
          <p:cNvPr descr="image.png" id="155" name="Google Shape;155;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6" name="Google Shape;156;p22"/>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Live Demo — Step-by-Step</a:t>
            </a:r>
            <a:endParaRPr sz="3200"/>
          </a:p>
        </p:txBody>
      </p:sp>
      <p:sp>
        <p:nvSpPr>
          <p:cNvPr id="157" name="Google Shape;157;p22"/>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22"/>
          <p:cNvSpPr txBox="1"/>
          <p:nvPr/>
        </p:nvSpPr>
        <p:spPr>
          <a:xfrm>
            <a:off x="762000" y="2725600"/>
            <a:ext cx="10887900" cy="776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2400">
                <a:solidFill>
                  <a:schemeClr val="dk1"/>
                </a:solidFill>
                <a:latin typeface="Lato"/>
                <a:ea typeface="Lato"/>
                <a:cs typeface="Lato"/>
                <a:sym typeface="Lato"/>
              </a:rPr>
              <a:t>Live demonstration on 5 papers (Generative Agents in Usable Security &amp; Privacy)</a:t>
            </a:r>
            <a:endParaRPr sz="2400">
              <a:solidFill>
                <a:schemeClr val="dk1"/>
              </a:solidFill>
              <a:latin typeface="Lato"/>
              <a:ea typeface="Lato"/>
              <a:cs typeface="Lato"/>
              <a:sym typeface="Lato"/>
            </a:endParaRPr>
          </a:p>
        </p:txBody>
      </p:sp>
      <p:pic>
        <p:nvPicPr>
          <p:cNvPr id="159" name="Google Shape;159;p22"/>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23"/>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Key Results — Extraction Quality</a:t>
            </a:r>
            <a:endParaRPr sz="3200"/>
          </a:p>
        </p:txBody>
      </p:sp>
      <p:sp>
        <p:nvSpPr>
          <p:cNvPr id="165" name="Google Shape;165;p23"/>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6" name="Google Shape;166;p23"/>
          <p:cNvPicPr preferRelativeResize="0"/>
          <p:nvPr/>
        </p:nvPicPr>
        <p:blipFill rotWithShape="1">
          <a:blip r:embed="rId3">
            <a:alphaModFix/>
          </a:blip>
          <a:srcRect b="7461" l="0" r="0" t="7461"/>
          <a:stretch/>
        </p:blipFill>
        <p:spPr>
          <a:xfrm>
            <a:off x="11164400" y="183075"/>
            <a:ext cx="780100" cy="260550"/>
          </a:xfrm>
          <a:prstGeom prst="rect">
            <a:avLst/>
          </a:prstGeom>
          <a:noFill/>
          <a:ln>
            <a:noFill/>
          </a:ln>
        </p:spPr>
      </p:pic>
      <p:sp>
        <p:nvSpPr>
          <p:cNvPr id="167" name="Google Shape;167;p23"/>
          <p:cNvSpPr txBox="1"/>
          <p:nvPr/>
        </p:nvSpPr>
        <p:spPr>
          <a:xfrm>
            <a:off x="1340848" y="5801700"/>
            <a:ext cx="9510300" cy="3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Lato"/>
                <a:ea typeface="Lato"/>
                <a:cs typeface="Lato"/>
                <a:sym typeface="Lato"/>
              </a:rPr>
              <a:t>Table 2: BERTScore Precision, Recall, and F1 per extraction field</a:t>
            </a:r>
            <a:endParaRPr sz="2400">
              <a:solidFill>
                <a:schemeClr val="dk1"/>
              </a:solidFill>
              <a:latin typeface="Lato"/>
              <a:ea typeface="Lato"/>
              <a:cs typeface="Lato"/>
              <a:sym typeface="Lato"/>
            </a:endParaRPr>
          </a:p>
        </p:txBody>
      </p:sp>
      <p:pic>
        <p:nvPicPr>
          <p:cNvPr id="168" name="Google Shape;168;p23" title="Screen Shot 2026-05-07 at 10.30.45 AM.png"/>
          <p:cNvPicPr preferRelativeResize="0"/>
          <p:nvPr/>
        </p:nvPicPr>
        <p:blipFill>
          <a:blip r:embed="rId4">
            <a:alphaModFix/>
          </a:blip>
          <a:stretch>
            <a:fillRect/>
          </a:stretch>
        </p:blipFill>
        <p:spPr>
          <a:xfrm>
            <a:off x="923925" y="1390650"/>
            <a:ext cx="10344150" cy="407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pic>
        <p:nvPicPr>
          <p:cNvPr descr="image.png" id="173" name="Google Shape;173;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p24"/>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Contradiction Detection &amp; Cost Comparison</a:t>
            </a:r>
            <a:endParaRPr sz="3200"/>
          </a:p>
        </p:txBody>
      </p:sp>
      <p:sp>
        <p:nvSpPr>
          <p:cNvPr id="175" name="Google Shape;175;p24"/>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24"/>
          <p:cNvSpPr txBox="1"/>
          <p:nvPr/>
        </p:nvSpPr>
        <p:spPr>
          <a:xfrm>
            <a:off x="613825" y="1399175"/>
            <a:ext cx="11175000" cy="109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400">
                <a:solidFill>
                  <a:srgbClr val="0F1115"/>
                </a:solidFill>
                <a:highlight>
                  <a:srgbClr val="FFFFFF"/>
                </a:highlight>
                <a:latin typeface="Lato"/>
                <a:ea typeface="Lato"/>
                <a:cs typeface="Lato"/>
                <a:sym typeface="Lato"/>
              </a:rPr>
              <a:t>Perfect precision on contradictions + 38% lower cost</a:t>
            </a:r>
            <a:endParaRPr sz="2400">
              <a:solidFill>
                <a:srgbClr val="0F1115"/>
              </a:solidFill>
              <a:highlight>
                <a:srgbClr val="FFFFFF"/>
              </a:highlight>
              <a:latin typeface="Lato"/>
              <a:ea typeface="Lato"/>
              <a:cs typeface="Lato"/>
              <a:sym typeface="Lato"/>
            </a:endParaRPr>
          </a:p>
          <a:p>
            <a:pPr indent="0" lvl="0" marL="0" rtl="0" algn="l">
              <a:lnSpc>
                <a:spcPct val="115000"/>
              </a:lnSpc>
              <a:spcBef>
                <a:spcPts val="1200"/>
              </a:spcBef>
              <a:spcAft>
                <a:spcPts val="0"/>
              </a:spcAft>
              <a:buNone/>
            </a:pPr>
            <a:r>
              <a:rPr lang="en-US" sz="2400">
                <a:solidFill>
                  <a:srgbClr val="0F1115"/>
                </a:solidFill>
                <a:highlight>
                  <a:srgbClr val="FFFFFF"/>
                </a:highlight>
                <a:latin typeface="Lato"/>
                <a:ea typeface="Lato"/>
                <a:cs typeface="Lato"/>
                <a:sym typeface="Lato"/>
              </a:rPr>
              <a:t>Contradiction results: Precision = 1.00 (no false positives</a:t>
            </a:r>
            <a:r>
              <a:rPr lang="en-US" sz="2400">
                <a:solidFill>
                  <a:srgbClr val="0F1115"/>
                </a:solidFill>
                <a:highlight>
                  <a:srgbClr val="FFFFFF"/>
                </a:highlight>
                <a:latin typeface="Lato"/>
                <a:ea typeface="Lato"/>
                <a:cs typeface="Lato"/>
                <a:sym typeface="Lato"/>
              </a:rPr>
              <a:t>), </a:t>
            </a:r>
            <a:r>
              <a:rPr lang="en-US" sz="2400">
                <a:solidFill>
                  <a:srgbClr val="0F1115"/>
                </a:solidFill>
                <a:highlight>
                  <a:srgbClr val="FFFFFF"/>
                </a:highlight>
                <a:latin typeface="Lato"/>
                <a:ea typeface="Lato"/>
                <a:cs typeface="Lato"/>
                <a:sym typeface="Lato"/>
              </a:rPr>
              <a:t>Recall = 0.67, F1 = 0.80</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1200"/>
              </a:spcBef>
              <a:spcAft>
                <a:spcPts val="0"/>
              </a:spcAft>
              <a:buNone/>
            </a:pPr>
            <a:r>
              <a:t/>
            </a:r>
            <a:endParaRPr sz="2400">
              <a:solidFill>
                <a:schemeClr val="dk1"/>
              </a:solidFill>
              <a:latin typeface="Lato"/>
              <a:ea typeface="Lato"/>
              <a:cs typeface="Lato"/>
              <a:sym typeface="Lato"/>
            </a:endParaRPr>
          </a:p>
        </p:txBody>
      </p:sp>
      <p:pic>
        <p:nvPicPr>
          <p:cNvPr id="177" name="Google Shape;177;p24"/>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pic>
        <p:nvPicPr>
          <p:cNvPr id="178" name="Google Shape;178;p24" title="Screen Shot 2026-05-07 at 10.40.37 AM.png"/>
          <p:cNvPicPr preferRelativeResize="0"/>
          <p:nvPr/>
        </p:nvPicPr>
        <p:blipFill>
          <a:blip r:embed="rId5">
            <a:alphaModFix/>
          </a:blip>
          <a:stretch>
            <a:fillRect/>
          </a:stretch>
        </p:blipFill>
        <p:spPr>
          <a:xfrm>
            <a:off x="1023925" y="2771775"/>
            <a:ext cx="10144125" cy="1314450"/>
          </a:xfrm>
          <a:prstGeom prst="rect">
            <a:avLst/>
          </a:prstGeom>
          <a:noFill/>
          <a:ln>
            <a:noFill/>
          </a:ln>
        </p:spPr>
      </p:pic>
      <p:sp>
        <p:nvSpPr>
          <p:cNvPr id="179" name="Google Shape;179;p24"/>
          <p:cNvSpPr txBox="1"/>
          <p:nvPr/>
        </p:nvSpPr>
        <p:spPr>
          <a:xfrm>
            <a:off x="1129225" y="4893150"/>
            <a:ext cx="10144200" cy="3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400">
                <a:solidFill>
                  <a:schemeClr val="dk1"/>
                </a:solidFill>
                <a:latin typeface="Lato"/>
                <a:ea typeface="Lato"/>
                <a:cs typeface="Lato"/>
                <a:sym typeface="Lato"/>
              </a:rPr>
              <a:t>Table 3: Cost-quality comparison on the same five-paper evaluation set</a:t>
            </a:r>
            <a:endParaRPr sz="2400">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pic>
        <p:nvPicPr>
          <p:cNvPr descr="image.png" id="184" name="Google Shape;18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5" name="Google Shape;185;p25"/>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Conclusion &amp; Next Steps</a:t>
            </a:r>
            <a:endParaRPr sz="3200"/>
          </a:p>
        </p:txBody>
      </p:sp>
      <p:sp>
        <p:nvSpPr>
          <p:cNvPr id="186" name="Google Shape;186;p25"/>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25"/>
          <p:cNvSpPr txBox="1"/>
          <p:nvPr/>
        </p:nvSpPr>
        <p:spPr>
          <a:xfrm>
            <a:off x="613825" y="1399175"/>
            <a:ext cx="11175000" cy="4696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US" sz="2400">
                <a:solidFill>
                  <a:srgbClr val="0F1115"/>
                </a:solidFill>
                <a:highlight>
                  <a:srgbClr val="FFFFFF"/>
                </a:highlight>
                <a:latin typeface="Lato"/>
                <a:ea typeface="Lato"/>
                <a:cs typeface="Lato"/>
                <a:sym typeface="Lato"/>
              </a:rPr>
              <a:t>What worked well- </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0"/>
              </a:spcBef>
              <a:spcAft>
                <a:spcPts val="0"/>
              </a:spcAft>
              <a:buNone/>
            </a:pPr>
            <a:r>
              <a:rPr lang="en-US" sz="2400">
                <a:solidFill>
                  <a:srgbClr val="0F1115"/>
                </a:solidFill>
                <a:highlight>
                  <a:srgbClr val="FFFFFF"/>
                </a:highlight>
                <a:latin typeface="Lato"/>
                <a:ea typeface="Lato"/>
                <a:cs typeface="Lato"/>
                <a:sym typeface="Lato"/>
              </a:rPr>
              <a:t>✅ Hybrid BM25+vector retrieval (BM25 catches exact terms, embeddings catch paraphrase) </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0"/>
              </a:spcBef>
              <a:spcAft>
                <a:spcPts val="0"/>
              </a:spcAft>
              <a:buNone/>
            </a:pPr>
            <a:r>
              <a:rPr lang="en-US" sz="2400">
                <a:solidFill>
                  <a:srgbClr val="0F1115"/>
                </a:solidFill>
                <a:highlight>
                  <a:srgbClr val="FFFFFF"/>
                </a:highlight>
                <a:latin typeface="Lato"/>
                <a:ea typeface="Lato"/>
                <a:cs typeface="Lato"/>
                <a:sym typeface="Lato"/>
              </a:rPr>
              <a:t>✅ JSON-mode with null handling → zero hallucinations </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0"/>
              </a:spcBef>
              <a:spcAft>
                <a:spcPts val="0"/>
              </a:spcAft>
              <a:buNone/>
            </a:pPr>
            <a:r>
              <a:rPr lang="en-US" sz="2400">
                <a:solidFill>
                  <a:srgbClr val="0F1115"/>
                </a:solidFill>
                <a:highlight>
                  <a:srgbClr val="FFFFFF"/>
                </a:highlight>
                <a:latin typeface="Lato"/>
                <a:ea typeface="Lato"/>
                <a:cs typeface="Lato"/>
                <a:sym typeface="Lato"/>
              </a:rPr>
              <a:t>✅ Title special case (positional retrieval) → F1 from 0.69 → 0.996 </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0"/>
              </a:spcBef>
              <a:spcAft>
                <a:spcPts val="0"/>
              </a:spcAft>
              <a:buNone/>
            </a:pPr>
            <a:r>
              <a:t/>
            </a:r>
            <a:endParaRPr sz="2400">
              <a:solidFill>
                <a:srgbClr val="0F1115"/>
              </a:solidFill>
              <a:highlight>
                <a:srgbClr val="FFFFFF"/>
              </a:highlight>
              <a:latin typeface="Lato"/>
              <a:ea typeface="Lato"/>
              <a:cs typeface="Lato"/>
              <a:sym typeface="Lato"/>
            </a:endParaRPr>
          </a:p>
          <a:p>
            <a:pPr indent="0" lvl="0" marL="0" rtl="0" algn="just">
              <a:lnSpc>
                <a:spcPct val="150000"/>
              </a:lnSpc>
              <a:spcBef>
                <a:spcPts val="0"/>
              </a:spcBef>
              <a:spcAft>
                <a:spcPts val="0"/>
              </a:spcAft>
              <a:buNone/>
            </a:pPr>
            <a:r>
              <a:rPr b="1" lang="en-US" sz="2400">
                <a:solidFill>
                  <a:srgbClr val="0F1115"/>
                </a:solidFill>
                <a:highlight>
                  <a:srgbClr val="FFFFFF"/>
                </a:highlight>
                <a:latin typeface="Lato"/>
                <a:ea typeface="Lato"/>
                <a:cs typeface="Lato"/>
                <a:sym typeface="Lato"/>
              </a:rPr>
              <a:t>Limitations &amp; next steps:</a:t>
            </a:r>
            <a:r>
              <a:rPr lang="en-US" sz="2400">
                <a:solidFill>
                  <a:srgbClr val="0F1115"/>
                </a:solidFill>
                <a:highlight>
                  <a:srgbClr val="FFFFFF"/>
                </a:highlight>
                <a:latin typeface="Lato"/>
                <a:ea typeface="Lato"/>
                <a:cs typeface="Lato"/>
                <a:sym typeface="Lato"/>
              </a:rPr>
              <a:t> (i) Expand to 20–30 papers (ii) Layout-aware PDF parser for two-column papers (iii) Manual annotation for retrieval evaluation (vs LLM-as-judge)  (iv) Tune fusion weight α per field</a:t>
            </a:r>
            <a:endParaRPr sz="2400">
              <a:solidFill>
                <a:schemeClr val="dk1"/>
              </a:solidFill>
              <a:latin typeface="Lato"/>
              <a:ea typeface="Lato"/>
              <a:cs typeface="Lato"/>
              <a:sym typeface="Lato"/>
            </a:endParaRPr>
          </a:p>
        </p:txBody>
      </p:sp>
      <p:pic>
        <p:nvPicPr>
          <p:cNvPr id="188" name="Google Shape;188;p25"/>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pic>
        <p:nvPicPr>
          <p:cNvPr descr="image.png" id="193" name="Google Shape;193;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4" name="Google Shape;194;p26"/>
          <p:cNvSpPr txBox="1"/>
          <p:nvPr/>
        </p:nvSpPr>
        <p:spPr>
          <a:xfrm>
            <a:off x="762000" y="571500"/>
            <a:ext cx="114015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rgbClr val="003366"/>
                </a:solidFill>
                <a:latin typeface="Poppins SemiBold"/>
                <a:ea typeface="Poppins SemiBold"/>
                <a:cs typeface="Poppins SemiBold"/>
                <a:sym typeface="Poppins SemiBold"/>
              </a:rPr>
              <a:t>References</a:t>
            </a:r>
            <a:endParaRPr sz="3200"/>
          </a:p>
        </p:txBody>
      </p:sp>
      <p:sp>
        <p:nvSpPr>
          <p:cNvPr id="195" name="Google Shape;195;p26"/>
          <p:cNvSpPr/>
          <p:nvPr/>
        </p:nvSpPr>
        <p:spPr>
          <a:xfrm>
            <a:off x="571500" y="571500"/>
            <a:ext cx="76200" cy="60000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6"/>
          <p:cNvSpPr txBox="1"/>
          <p:nvPr/>
        </p:nvSpPr>
        <p:spPr>
          <a:xfrm>
            <a:off x="613825" y="1399175"/>
            <a:ext cx="11175000" cy="4696800"/>
          </a:xfrm>
          <a:prstGeom prst="rect">
            <a:avLst/>
          </a:prstGeom>
          <a:noFill/>
          <a:ln>
            <a:noFill/>
          </a:ln>
        </p:spPr>
        <p:txBody>
          <a:bodyPr anchorCtr="0" anchor="t" bIns="91425" lIns="91425" spcFirstLastPara="1" rIns="91425" wrap="square" tIns="91425">
            <a:noAutofit/>
          </a:bodyPr>
          <a:lstStyle/>
          <a:p>
            <a:pPr indent="-381000" lvl="0" marL="457200" rtl="0" algn="just">
              <a:lnSpc>
                <a:spcPct val="150000"/>
              </a:lnSpc>
              <a:spcBef>
                <a:spcPts val="0"/>
              </a:spcBef>
              <a:spcAft>
                <a:spcPts val="0"/>
              </a:spcAft>
              <a:buClr>
                <a:srgbClr val="0F1115"/>
              </a:buClr>
              <a:buSzPts val="2400"/>
              <a:buFont typeface="Lato"/>
              <a:buChar char="●"/>
            </a:pPr>
            <a:r>
              <a:rPr lang="en-US" sz="2400">
                <a:solidFill>
                  <a:srgbClr val="0F1115"/>
                </a:solidFill>
                <a:highlight>
                  <a:srgbClr val="FFFFFF"/>
                </a:highlight>
                <a:latin typeface="Lato"/>
                <a:ea typeface="Lato"/>
                <a:cs typeface="Lato"/>
                <a:sym typeface="Lato"/>
              </a:rPr>
              <a:t>Lewis et al., “Retrieval-augmented generation for knowledge-intensive NLP tasks,” NeurIPS 2020 </a:t>
            </a:r>
            <a:endParaRPr sz="2400">
              <a:solidFill>
                <a:srgbClr val="0F1115"/>
              </a:solidFill>
              <a:highlight>
                <a:srgbClr val="FFFFFF"/>
              </a:highlight>
              <a:latin typeface="Lato"/>
              <a:ea typeface="Lato"/>
              <a:cs typeface="Lato"/>
              <a:sym typeface="Lato"/>
            </a:endParaRPr>
          </a:p>
          <a:p>
            <a:pPr indent="-381000" lvl="0" marL="457200" rtl="0" algn="just">
              <a:lnSpc>
                <a:spcPct val="150000"/>
              </a:lnSpc>
              <a:spcBef>
                <a:spcPts val="0"/>
              </a:spcBef>
              <a:spcAft>
                <a:spcPts val="0"/>
              </a:spcAft>
              <a:buClr>
                <a:srgbClr val="0F1115"/>
              </a:buClr>
              <a:buSzPts val="2400"/>
              <a:buFont typeface="Lato"/>
              <a:buChar char="●"/>
            </a:pPr>
            <a:r>
              <a:rPr lang="en-US" sz="2400">
                <a:solidFill>
                  <a:srgbClr val="0F1115"/>
                </a:solidFill>
                <a:highlight>
                  <a:srgbClr val="FFFFFF"/>
                </a:highlight>
                <a:latin typeface="Lato"/>
                <a:ea typeface="Lato"/>
                <a:cs typeface="Lato"/>
                <a:sym typeface="Lato"/>
              </a:rPr>
              <a:t>Zhang et al., “BERTScore: Evaluating text generation with BERT,” arXiv 2019 Robertson &amp; Zaragoza, BM25 and Beyond, 2009 </a:t>
            </a:r>
            <a:endParaRPr sz="2400">
              <a:solidFill>
                <a:srgbClr val="0F1115"/>
              </a:solidFill>
              <a:highlight>
                <a:srgbClr val="FFFFFF"/>
              </a:highlight>
              <a:latin typeface="Lato"/>
              <a:ea typeface="Lato"/>
              <a:cs typeface="Lato"/>
              <a:sym typeface="Lato"/>
            </a:endParaRPr>
          </a:p>
          <a:p>
            <a:pPr indent="-381000" lvl="0" marL="457200" rtl="0" algn="just">
              <a:lnSpc>
                <a:spcPct val="150000"/>
              </a:lnSpc>
              <a:spcBef>
                <a:spcPts val="0"/>
              </a:spcBef>
              <a:spcAft>
                <a:spcPts val="0"/>
              </a:spcAft>
              <a:buClr>
                <a:srgbClr val="0F1115"/>
              </a:buClr>
              <a:buSzPts val="2400"/>
              <a:buFont typeface="Lato"/>
              <a:buChar char="●"/>
            </a:pPr>
            <a:r>
              <a:rPr lang="en-US" sz="2400">
                <a:solidFill>
                  <a:srgbClr val="0F1115"/>
                </a:solidFill>
                <a:highlight>
                  <a:srgbClr val="FFFFFF"/>
                </a:highlight>
                <a:latin typeface="Lato"/>
                <a:ea typeface="Lato"/>
                <a:cs typeface="Lato"/>
                <a:sym typeface="Lato"/>
              </a:rPr>
              <a:t>OpenAI Structured Outputs, ChromaDB, rank-bm25</a:t>
            </a:r>
            <a:endParaRPr sz="2400">
              <a:solidFill>
                <a:schemeClr val="dk1"/>
              </a:solidFill>
              <a:latin typeface="Lato"/>
              <a:ea typeface="Lato"/>
              <a:cs typeface="Lato"/>
              <a:sym typeface="Lato"/>
            </a:endParaRPr>
          </a:p>
        </p:txBody>
      </p:sp>
      <p:pic>
        <p:nvPicPr>
          <p:cNvPr id="197" name="Google Shape;197;p26"/>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3" name="Google Shape;203;p27"/>
          <p:cNvSpPr txBox="1"/>
          <p:nvPr/>
        </p:nvSpPr>
        <p:spPr>
          <a:xfrm>
            <a:off x="4360808" y="1425215"/>
            <a:ext cx="34704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003366"/>
                </a:solidFill>
                <a:latin typeface="Poppins"/>
                <a:ea typeface="Poppins"/>
                <a:cs typeface="Poppins"/>
                <a:sym typeface="Poppins"/>
              </a:rPr>
              <a:t>Questions?</a:t>
            </a:r>
            <a:endParaRPr/>
          </a:p>
        </p:txBody>
      </p:sp>
      <p:sp>
        <p:nvSpPr>
          <p:cNvPr id="204" name="Google Shape;204;p27"/>
          <p:cNvSpPr txBox="1"/>
          <p:nvPr/>
        </p:nvSpPr>
        <p:spPr>
          <a:xfrm>
            <a:off x="4275300" y="2621375"/>
            <a:ext cx="3555900" cy="96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2400" u="none" cap="none" strike="noStrike">
                <a:solidFill>
                  <a:schemeClr val="dk1"/>
                </a:solidFill>
                <a:latin typeface="Lato"/>
                <a:ea typeface="Lato"/>
                <a:cs typeface="Lato"/>
                <a:sym typeface="Lato"/>
              </a:rPr>
              <a:t>Thank you for your attention.</a:t>
            </a:r>
            <a:endParaRPr sz="2400">
              <a:solidFill>
                <a:schemeClr val="dk1"/>
              </a:solidFill>
            </a:endParaRPr>
          </a:p>
        </p:txBody>
      </p:sp>
      <p:sp>
        <p:nvSpPr>
          <p:cNvPr id="205" name="Google Shape;205;p27"/>
          <p:cNvSpPr/>
          <p:nvPr/>
        </p:nvSpPr>
        <p:spPr>
          <a:xfrm>
            <a:off x="5619750" y="3754635"/>
            <a:ext cx="952500" cy="57150"/>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6" name="Google Shape;206;p27"/>
          <p:cNvPicPr preferRelativeResize="0"/>
          <p:nvPr/>
        </p:nvPicPr>
        <p:blipFill rotWithShape="1">
          <a:blip r:embed="rId4">
            <a:alphaModFix/>
          </a:blip>
          <a:srcRect b="7461" l="0" r="0" t="7461"/>
          <a:stretch/>
        </p:blipFill>
        <p:spPr>
          <a:xfrm>
            <a:off x="11164400" y="183075"/>
            <a:ext cx="780100" cy="260550"/>
          </a:xfrm>
          <a:prstGeom prst="rect">
            <a:avLst/>
          </a:prstGeom>
          <a:noFill/>
          <a:ln>
            <a:noFill/>
          </a:ln>
        </p:spPr>
      </p:pic>
      <p:pic>
        <p:nvPicPr>
          <p:cNvPr descr="a penguin with a question mark above it (Provided by Tenor)" id="207" name="Google Shape;207;p27"/>
          <p:cNvPicPr preferRelativeResize="0"/>
          <p:nvPr/>
        </p:nvPicPr>
        <p:blipFill>
          <a:blip r:embed="rId5">
            <a:alphaModFix/>
          </a:blip>
          <a:stretch>
            <a:fillRect/>
          </a:stretch>
        </p:blipFill>
        <p:spPr>
          <a:xfrm flipH="1">
            <a:off x="8065338" y="2224138"/>
            <a:ext cx="2586825" cy="2586825"/>
          </a:xfrm>
          <a:prstGeom prst="rect">
            <a:avLst/>
          </a:prstGeom>
          <a:noFill/>
          <a:ln>
            <a:noFill/>
          </a:ln>
        </p:spPr>
      </p:pic>
      <p:pic>
        <p:nvPicPr>
          <p:cNvPr descr="a penguin with a question mark above it (Provided by Tenor)" id="208" name="Google Shape;208;p27"/>
          <p:cNvPicPr preferRelativeResize="0"/>
          <p:nvPr/>
        </p:nvPicPr>
        <p:blipFill>
          <a:blip r:embed="rId5">
            <a:alphaModFix/>
          </a:blip>
          <a:stretch>
            <a:fillRect/>
          </a:stretch>
        </p:blipFill>
        <p:spPr>
          <a:xfrm>
            <a:off x="1539813" y="2489788"/>
            <a:ext cx="2586825" cy="2586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